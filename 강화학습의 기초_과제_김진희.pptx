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63" r:id="rId3"/>
    <p:sldId id="271" r:id="rId4"/>
    <p:sldId id="257" r:id="rId5"/>
    <p:sldId id="273" r:id="rId6"/>
    <p:sldId id="272" r:id="rId7"/>
    <p:sldId id="285" r:id="rId8"/>
    <p:sldId id="274" r:id="rId9"/>
    <p:sldId id="286" r:id="rId10"/>
    <p:sldId id="276" r:id="rId11"/>
    <p:sldId id="277" r:id="rId12"/>
    <p:sldId id="279" r:id="rId13"/>
    <p:sldId id="287" r:id="rId14"/>
    <p:sldId id="281" r:id="rId15"/>
    <p:sldId id="284" r:id="rId16"/>
    <p:sldId id="289" r:id="rId17"/>
    <p:sldId id="290" r:id="rId18"/>
    <p:sldId id="291" r:id="rId19"/>
    <p:sldId id="292" r:id="rId20"/>
    <p:sldId id="283" r:id="rId21"/>
    <p:sldId id="267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7079"/>
    <a:srgbClr val="DA242C"/>
    <a:srgbClr val="AB1E24"/>
    <a:srgbClr val="FBFBFB"/>
    <a:srgbClr val="CE8E8C"/>
    <a:srgbClr val="C1C1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0" autoAdjust="0"/>
    <p:restoredTop sz="94660"/>
  </p:normalViewPr>
  <p:slideViewPr>
    <p:cSldViewPr snapToGrid="0">
      <p:cViewPr varScale="1">
        <p:scale>
          <a:sx n="74" d="100"/>
          <a:sy n="74" d="100"/>
        </p:scale>
        <p:origin x="9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66F4F0-54EE-4DBB-A3BA-F09160D4DC92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6A2ED-AFF5-4261-B9C4-039D152CB0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608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SOGANG UNIVERSITY" pitchFamily="2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1733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  <a:lvl2pPr>
              <a:defRPr b="0" i="0">
                <a:latin typeface="SOGANG UNIVERSITY" pitchFamily="2" charset="-127"/>
              </a:defRPr>
            </a:lvl2pPr>
            <a:lvl3pPr>
              <a:defRPr b="0" i="0">
                <a:latin typeface="SOGANG UNIVERSITY" pitchFamily="2" charset="-127"/>
              </a:defRPr>
            </a:lvl3pPr>
            <a:lvl4pPr>
              <a:defRPr b="0" i="0">
                <a:latin typeface="SOGANG UNIVERSITY" pitchFamily="2" charset="-127"/>
              </a:defRPr>
            </a:lvl4pPr>
            <a:lvl5pPr>
              <a:defRPr b="0" i="0">
                <a:latin typeface="SOGANG UNIVERSITY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157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SOGANG UNIVERSITY" pitchFamily="2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2849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 b="0" i="0">
                <a:latin typeface="SOGANG UNIVERSITY" pitchFamily="2" charset="-127"/>
              </a:defRPr>
            </a:lvl1pPr>
            <a:lvl2pPr>
              <a:defRPr b="0" i="0">
                <a:latin typeface="SOGANG UNIVERSITY" pitchFamily="2" charset="-127"/>
              </a:defRPr>
            </a:lvl2pPr>
            <a:lvl3pPr>
              <a:defRPr b="0" i="0">
                <a:latin typeface="SOGANG UNIVERSITY" pitchFamily="2" charset="-127"/>
              </a:defRPr>
            </a:lvl3pPr>
            <a:lvl4pPr>
              <a:defRPr b="0" i="0">
                <a:latin typeface="SOGANG UNIVERSITY" pitchFamily="2" charset="-127"/>
              </a:defRPr>
            </a:lvl4pPr>
            <a:lvl5pPr>
              <a:defRPr b="0" i="0">
                <a:latin typeface="SOGANG UNIVERSITY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 b="0" i="0">
                <a:latin typeface="SOGANG UNIVERSITY" pitchFamily="2" charset="-127"/>
              </a:defRPr>
            </a:lvl1pPr>
            <a:lvl2pPr>
              <a:defRPr b="0" i="0">
                <a:latin typeface="SOGANG UNIVERSITY" pitchFamily="2" charset="-127"/>
              </a:defRPr>
            </a:lvl2pPr>
            <a:lvl3pPr>
              <a:defRPr b="0" i="0">
                <a:latin typeface="SOGANG UNIVERSITY" pitchFamily="2" charset="-127"/>
              </a:defRPr>
            </a:lvl3pPr>
            <a:lvl4pPr>
              <a:defRPr b="0" i="0">
                <a:latin typeface="SOGANG UNIVERSITY" pitchFamily="2" charset="-127"/>
              </a:defRPr>
            </a:lvl4pPr>
            <a:lvl5pPr>
              <a:defRPr b="0" i="0">
                <a:latin typeface="SOGANG UNIVERSITY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467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SOGANG UNIVERSITY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 b="0" i="0">
                <a:latin typeface="SOGANG UNIVERSITY" pitchFamily="2" charset="-127"/>
              </a:defRPr>
            </a:lvl1pPr>
            <a:lvl2pPr>
              <a:defRPr b="0" i="0">
                <a:latin typeface="SOGANG UNIVERSITY" pitchFamily="2" charset="-127"/>
              </a:defRPr>
            </a:lvl2pPr>
            <a:lvl3pPr>
              <a:defRPr b="0" i="0">
                <a:latin typeface="SOGANG UNIVERSITY" pitchFamily="2" charset="-127"/>
              </a:defRPr>
            </a:lvl3pPr>
            <a:lvl4pPr>
              <a:defRPr b="0" i="0">
                <a:latin typeface="SOGANG UNIVERSITY" pitchFamily="2" charset="-127"/>
              </a:defRPr>
            </a:lvl4pPr>
            <a:lvl5pPr>
              <a:defRPr b="0" i="0">
                <a:latin typeface="SOGANG UNIVERSITY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SOGANG UNIVERSITY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 b="0" i="0">
                <a:latin typeface="SOGANG UNIVERSITY" pitchFamily="2" charset="-127"/>
              </a:defRPr>
            </a:lvl1pPr>
            <a:lvl2pPr>
              <a:defRPr b="0" i="0">
                <a:latin typeface="SOGANG UNIVERSITY" pitchFamily="2" charset="-127"/>
              </a:defRPr>
            </a:lvl2pPr>
            <a:lvl3pPr>
              <a:defRPr b="0" i="0">
                <a:latin typeface="SOGANG UNIVERSITY" pitchFamily="2" charset="-127"/>
              </a:defRPr>
            </a:lvl3pPr>
            <a:lvl4pPr>
              <a:defRPr b="0" i="0">
                <a:latin typeface="SOGANG UNIVERSITY" pitchFamily="2" charset="-127"/>
              </a:defRPr>
            </a:lvl4pPr>
            <a:lvl5pPr>
              <a:defRPr b="0" i="0">
                <a:latin typeface="SOGANG UNIVERSITY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312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7105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8325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 b="0" i="0">
                <a:latin typeface="SOGANG UNIVERSITY" pitchFamily="2" charset="-127"/>
              </a:defRPr>
            </a:lvl1pPr>
            <a:lvl2pPr>
              <a:defRPr sz="2800" b="0" i="0">
                <a:latin typeface="SOGANG UNIVERSITY" pitchFamily="2" charset="-127"/>
              </a:defRPr>
            </a:lvl2pPr>
            <a:lvl3pPr>
              <a:defRPr sz="2400" b="0" i="0">
                <a:latin typeface="SOGANG UNIVERSITY" pitchFamily="2" charset="-127"/>
              </a:defRPr>
            </a:lvl3pPr>
            <a:lvl4pPr>
              <a:defRPr sz="2000" b="0" i="0">
                <a:latin typeface="SOGANG UNIVERSITY" pitchFamily="2" charset="-127"/>
              </a:defRPr>
            </a:lvl4pPr>
            <a:lvl5pPr>
              <a:defRPr sz="2000" b="0" i="0">
                <a:latin typeface="SOGANG UNIVERSITY" pitchFamily="2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 b="0" i="0">
                <a:latin typeface="SOGANG UNIVERSITY" pitchFamily="2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7039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 b="0" i="0">
                <a:latin typeface="SOGANG UNIVERSITY" pitchFamily="2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 b="0" i="0">
                <a:latin typeface="SOGANG UNIVERSITY" pitchFamily="2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851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latin typeface="SOGANG UNIVERSITY" pitchFamily="2" charset="-127"/>
              </a:defRPr>
            </a:lvl1pPr>
            <a:lvl2pPr>
              <a:defRPr b="0" i="0">
                <a:latin typeface="SOGANG UNIVERSITY" pitchFamily="2" charset="-127"/>
              </a:defRPr>
            </a:lvl2pPr>
            <a:lvl3pPr>
              <a:defRPr b="0" i="0">
                <a:latin typeface="SOGANG UNIVERSITY" pitchFamily="2" charset="-127"/>
              </a:defRPr>
            </a:lvl3pPr>
            <a:lvl4pPr>
              <a:defRPr b="0" i="0">
                <a:latin typeface="SOGANG UNIVERSITY" pitchFamily="2" charset="-127"/>
              </a:defRPr>
            </a:lvl4pPr>
            <a:lvl5pPr>
              <a:defRPr b="0" i="0">
                <a:latin typeface="SOGANG UNIVERSITY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4950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>
              <a:defRPr b="0" i="0">
                <a:latin typeface="SOGANG UNIVERSITY" pitchFamily="2" charset="-127"/>
              </a:defRPr>
            </a:lvl1pPr>
            <a:lvl2pPr>
              <a:defRPr b="0" i="0">
                <a:latin typeface="SOGANG UNIVERSITY" pitchFamily="2" charset="-127"/>
              </a:defRPr>
            </a:lvl2pPr>
            <a:lvl3pPr>
              <a:defRPr b="0" i="0">
                <a:latin typeface="SOGANG UNIVERSITY" pitchFamily="2" charset="-127"/>
              </a:defRPr>
            </a:lvl3pPr>
            <a:lvl4pPr>
              <a:defRPr b="0" i="0">
                <a:latin typeface="SOGANG UNIVERSITY" pitchFamily="2" charset="-127"/>
              </a:defRPr>
            </a:lvl4pPr>
            <a:lvl5pPr>
              <a:defRPr b="0" i="0">
                <a:latin typeface="SOGANG UNIVERSITY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7660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SOGANG UNIVERSITY" pitchFamily="2" charset="-127"/>
              </a:defRPr>
            </a:lvl1pPr>
          </a:lstStyle>
          <a:p>
            <a:fld id="{91544872-44E8-473F-BAFC-BCC4BE4C4120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SOGANG UNIVERSITY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SOGANG UNIVERSITY" pitchFamily="2" charset="-127"/>
              </a:defRPr>
            </a:lvl1pPr>
          </a:lstStyle>
          <a:p>
            <a:fld id="{5A36BB95-69C3-4E02-9324-2D774578A2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369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SOGANG UNIVERSITY" pitchFamily="2" charset="-127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SOGANG UNIVERSITY" pitchFamily="2" charset="-127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OGANG UNIVERSITY" pitchFamily="2" charset="-127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OGANG UNIVERSITY" pitchFamily="2" charset="-127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OGANG UNIVERSITY" pitchFamily="2" charset="-127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OGANG UNIVERSITY" pitchFamily="2" charset="-127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isred5g/taxi_r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3E2EB24-8FB4-4671-BF41-6CCB9388F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7" y="0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5F1D80-BA58-4EBF-8DE4-3277E17BCF46}"/>
              </a:ext>
            </a:extLst>
          </p:cNvPr>
          <p:cNvSpPr txBox="1"/>
          <p:nvPr/>
        </p:nvSpPr>
        <p:spPr>
          <a:xfrm>
            <a:off x="13187" y="1718048"/>
            <a:ext cx="75273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연료 </a:t>
            </a:r>
            <a:r>
              <a:rPr lang="ko-KR" altLang="en-US" sz="4400" b="1" dirty="0">
                <a:latin typeface="SOGANG UNIVERSITY" pitchFamily="2" charset="-127"/>
                <a:ea typeface="SOGANG UNIVERSITY"/>
                <a:cs typeface="72 Black" panose="020B0A04030603020204" pitchFamily="34" charset="0"/>
              </a:rPr>
              <a:t>제약은</a:t>
            </a:r>
            <a:r>
              <a:rPr lang="ko-KR" altLang="en-US" sz="4400" b="1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 택시 에이전트를 더 효율적으로 만드는가</a:t>
            </a:r>
            <a:r>
              <a:rPr lang="en-US" altLang="ko-KR" sz="4400" b="1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5A438B-5C9B-4712-A152-DCAE26D925C8}"/>
              </a:ext>
            </a:extLst>
          </p:cNvPr>
          <p:cNvSpPr txBox="1"/>
          <p:nvPr/>
        </p:nvSpPr>
        <p:spPr>
          <a:xfrm>
            <a:off x="3097369" y="3939629"/>
            <a:ext cx="44432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AISW</a:t>
            </a:r>
            <a:r>
              <a:rPr lang="ko-KR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대학원</a:t>
            </a:r>
            <a:endParaRPr lang="en-US" altLang="ko-KR" sz="2400" b="1" dirty="0">
              <a:solidFill>
                <a:schemeClr val="tx1">
                  <a:lumMod val="50000"/>
                  <a:lumOff val="50000"/>
                </a:schemeClr>
              </a:solidFill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  <a:p>
            <a:r>
              <a:rPr lang="ko-KR" altLang="en-US" sz="2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데이터사이언스</a:t>
            </a:r>
            <a:r>
              <a:rPr lang="ko-KR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 인공지능 전공</a:t>
            </a:r>
            <a:endParaRPr lang="en-US" altLang="ko-KR" sz="2400" b="1" dirty="0">
              <a:solidFill>
                <a:schemeClr val="tx1">
                  <a:lumMod val="50000"/>
                  <a:lumOff val="50000"/>
                </a:schemeClr>
              </a:solidFill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  <a:p>
            <a:r>
              <a:rPr lang="en-US" altLang="ko-KR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A72041 </a:t>
            </a:r>
            <a:r>
              <a:rPr lang="ko-KR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김진희 </a:t>
            </a:r>
            <a:r>
              <a:rPr lang="en-US" altLang="ko-KR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(1</a:t>
            </a:r>
            <a:r>
              <a:rPr lang="ko-KR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인</a:t>
            </a:r>
            <a:r>
              <a:rPr lang="en-US" altLang="ko-KR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FA04BF-54D0-2AC8-189D-E881B7EFC320}"/>
              </a:ext>
            </a:extLst>
          </p:cNvPr>
          <p:cNvSpPr txBox="1"/>
          <p:nvPr/>
        </p:nvSpPr>
        <p:spPr>
          <a:xfrm>
            <a:off x="299434" y="5545657"/>
            <a:ext cx="4720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과제 제출 </a:t>
            </a:r>
            <a:r>
              <a:rPr lang="en-US" altLang="ko-KR" dirty="0"/>
              <a:t>: </a:t>
            </a:r>
            <a:r>
              <a:rPr lang="ko-KR" altLang="en-US" dirty="0">
                <a:hlinkClick r:id="rId3"/>
              </a:rPr>
              <a:t>https://github.com/hisred5g/taxi_rl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0644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C9CCEB3-8A9D-AAD9-D160-92226BA16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13"/>
          <a:stretch/>
        </p:blipFill>
        <p:spPr>
          <a:xfrm>
            <a:off x="2528121" y="0"/>
            <a:ext cx="6628236" cy="685800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C1BFC6EB-3089-4145-96BA-0128BD63549D}"/>
              </a:ext>
            </a:extLst>
          </p:cNvPr>
          <p:cNvSpPr/>
          <p:nvPr/>
        </p:nvSpPr>
        <p:spPr>
          <a:xfrm>
            <a:off x="1647826" y="1721817"/>
            <a:ext cx="6310315" cy="4236618"/>
          </a:xfrm>
          <a:prstGeom prst="rect">
            <a:avLst/>
          </a:prstGeom>
          <a:solidFill>
            <a:srgbClr val="AB1E24"/>
          </a:solidFill>
          <a:ln>
            <a:noFill/>
          </a:ln>
          <a:effectLst>
            <a:outerShdw blurRad="179707" dist="58279" dir="19200000" sx="99000" sy="99000" algn="ctr" rotWithShape="0">
              <a:srgbClr val="000000">
                <a:alpha val="2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OGANG UNIVERSITY" pitchFamily="2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970ECF31-931A-48F8-BD61-2580893600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171B745E-F11E-4714-BB28-FD2244950D1F}"/>
              </a:ext>
            </a:extLst>
          </p:cNvPr>
          <p:cNvSpPr/>
          <p:nvPr/>
        </p:nvSpPr>
        <p:spPr>
          <a:xfrm>
            <a:off x="1490660" y="1863252"/>
            <a:ext cx="6310315" cy="42366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4119" dist="49281" dir="7140000" sx="98818" sy="98818" algn="ctr" rotWithShape="0">
              <a:srgbClr val="000000">
                <a:alpha val="48274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OGANG UNIVERSITY" pitchFamily="2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3C7C93F-69E4-4B28-BF15-7B8303EF5F02}"/>
              </a:ext>
            </a:extLst>
          </p:cNvPr>
          <p:cNvGrpSpPr/>
          <p:nvPr/>
        </p:nvGrpSpPr>
        <p:grpSpPr>
          <a:xfrm>
            <a:off x="2928406" y="528166"/>
            <a:ext cx="3434820" cy="734680"/>
            <a:chOff x="2105025" y="704851"/>
            <a:chExt cx="4838697" cy="107632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DBAB747-E132-42DC-A016-C42100C46942}"/>
                </a:ext>
              </a:extLst>
            </p:cNvPr>
            <p:cNvSpPr/>
            <p:nvPr/>
          </p:nvSpPr>
          <p:spPr>
            <a:xfrm>
              <a:off x="2105025" y="704851"/>
              <a:ext cx="4838697" cy="1076325"/>
            </a:xfrm>
            <a:prstGeom prst="rect">
              <a:avLst/>
            </a:prstGeom>
            <a:solidFill>
              <a:srgbClr val="AB1E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SOGANG UNIVERSITY" pitchFamily="2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DCDFC32-E2DC-4A47-B5B2-97331E1A9083}"/>
                </a:ext>
              </a:extLst>
            </p:cNvPr>
            <p:cNvSpPr txBox="1"/>
            <p:nvPr/>
          </p:nvSpPr>
          <p:spPr>
            <a:xfrm>
              <a:off x="2825353" y="858292"/>
              <a:ext cx="3493296" cy="766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>
                  <a:solidFill>
                    <a:schemeClr val="bg1"/>
                  </a:solidFill>
                  <a:latin typeface="서강체" pitchFamily="50" charset="-127"/>
                  <a:ea typeface="서강체" pitchFamily="50" charset="-127"/>
                </a:rPr>
                <a:t>CONTENTS</a:t>
              </a:r>
              <a:endParaRPr lang="ko-KR" altLang="en-US" sz="2800" dirty="0">
                <a:solidFill>
                  <a:schemeClr val="bg1"/>
                </a:solidFill>
                <a:latin typeface="서강체" pitchFamily="50" charset="-127"/>
                <a:ea typeface="서강체" pitchFamily="50" charset="-127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491F331D-CB4B-4A36-B84B-A09F63E433DD}"/>
              </a:ext>
            </a:extLst>
          </p:cNvPr>
          <p:cNvSpPr txBox="1"/>
          <p:nvPr/>
        </p:nvSpPr>
        <p:spPr>
          <a:xfrm>
            <a:off x="2974106" y="2031417"/>
            <a:ext cx="213577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연구 배경</a:t>
            </a:r>
            <a:endParaRPr lang="en-US" altLang="ko-KR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9FA645-7BDE-4EEC-B908-2D55C4E5229E}"/>
              </a:ext>
            </a:extLst>
          </p:cNvPr>
          <p:cNvSpPr txBox="1"/>
          <p:nvPr/>
        </p:nvSpPr>
        <p:spPr>
          <a:xfrm>
            <a:off x="2978868" y="2766040"/>
            <a:ext cx="213577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환경 설계</a:t>
            </a:r>
            <a:endParaRPr lang="en-US" altLang="ko-KR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7231D9-AF2E-4362-989B-30C638379CD9}"/>
              </a:ext>
            </a:extLst>
          </p:cNvPr>
          <p:cNvSpPr txBox="1"/>
          <p:nvPr/>
        </p:nvSpPr>
        <p:spPr>
          <a:xfrm>
            <a:off x="2988392" y="3471832"/>
            <a:ext cx="37600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강화학습 알고리즘</a:t>
            </a:r>
            <a:endParaRPr lang="en-US" altLang="ko-KR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9E46E2-0EDE-4432-A21C-5204021E3D03}"/>
              </a:ext>
            </a:extLst>
          </p:cNvPr>
          <p:cNvSpPr txBox="1"/>
          <p:nvPr/>
        </p:nvSpPr>
        <p:spPr>
          <a:xfrm>
            <a:off x="2988392" y="4838288"/>
            <a:ext cx="213577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실험 결과</a:t>
            </a:r>
            <a:endParaRPr lang="en-US" altLang="ko-KR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99E5D63-C0BA-CDDC-773B-22A1EFF47B6E}"/>
              </a:ext>
            </a:extLst>
          </p:cNvPr>
          <p:cNvGrpSpPr/>
          <p:nvPr/>
        </p:nvGrpSpPr>
        <p:grpSpPr>
          <a:xfrm>
            <a:off x="2099710" y="1940232"/>
            <a:ext cx="571894" cy="571894"/>
            <a:chOff x="1823887" y="1828871"/>
            <a:chExt cx="800100" cy="800100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AF5C521C-0261-477C-A7D4-AE45CE3D9E80}"/>
                </a:ext>
              </a:extLst>
            </p:cNvPr>
            <p:cNvSpPr/>
            <p:nvPr/>
          </p:nvSpPr>
          <p:spPr>
            <a:xfrm>
              <a:off x="1823887" y="1828871"/>
              <a:ext cx="800100" cy="800100"/>
            </a:xfrm>
            <a:prstGeom prst="ellipse">
              <a:avLst/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latin typeface="SOGANG UNIVERSITY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02F3F9F-F69B-4301-8CAC-F0856D6BE0FC}"/>
                </a:ext>
              </a:extLst>
            </p:cNvPr>
            <p:cNvSpPr txBox="1"/>
            <p:nvPr/>
          </p:nvSpPr>
          <p:spPr>
            <a:xfrm>
              <a:off x="1995954" y="1949037"/>
              <a:ext cx="455964" cy="55976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dirty="0">
                  <a:latin typeface="SOGANG UNIVERSITY" pitchFamily="2" charset="-127"/>
                  <a:ea typeface="SOGANG UNIVERSITY" pitchFamily="2" charset="-127"/>
                  <a:cs typeface="72 Black" panose="020B0A04030603020204" pitchFamily="34" charset="0"/>
                </a:rPr>
                <a:t>1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E8DC858-4333-5099-6165-C111EA31F8D0}"/>
              </a:ext>
            </a:extLst>
          </p:cNvPr>
          <p:cNvGrpSpPr/>
          <p:nvPr/>
        </p:nvGrpSpPr>
        <p:grpSpPr>
          <a:xfrm>
            <a:off x="2099710" y="2647199"/>
            <a:ext cx="571894" cy="571894"/>
            <a:chOff x="1823887" y="2859866"/>
            <a:chExt cx="800100" cy="800100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6D0245A4-3154-4291-A26D-2ADB5C43B791}"/>
                </a:ext>
              </a:extLst>
            </p:cNvPr>
            <p:cNvSpPr/>
            <p:nvPr/>
          </p:nvSpPr>
          <p:spPr>
            <a:xfrm>
              <a:off x="1823887" y="2859866"/>
              <a:ext cx="800100" cy="800100"/>
            </a:xfrm>
            <a:prstGeom prst="ellipse">
              <a:avLst/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solidFill>
                  <a:schemeClr val="tx1"/>
                </a:solidFill>
                <a:latin typeface="SOGANG UNIVERSITY" pitchFamily="2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AF835CD-9152-4B29-9556-34548A55858B}"/>
                </a:ext>
              </a:extLst>
            </p:cNvPr>
            <p:cNvSpPr txBox="1"/>
            <p:nvPr/>
          </p:nvSpPr>
          <p:spPr>
            <a:xfrm>
              <a:off x="1995954" y="2980032"/>
              <a:ext cx="455964" cy="55976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dirty="0">
                  <a:latin typeface="SOGANG UNIVERSITY" pitchFamily="2" charset="-127"/>
                  <a:ea typeface="SOGANG UNIVERSITY" pitchFamily="2" charset="-127"/>
                  <a:cs typeface="72 Black" panose="020B0A04030603020204" pitchFamily="34" charset="0"/>
                </a:rPr>
                <a:t>2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4244021-2DF9-558B-3803-E8FB23733DEF}"/>
              </a:ext>
            </a:extLst>
          </p:cNvPr>
          <p:cNvGrpSpPr/>
          <p:nvPr/>
        </p:nvGrpSpPr>
        <p:grpSpPr>
          <a:xfrm>
            <a:off x="2099710" y="3354166"/>
            <a:ext cx="571894" cy="571894"/>
            <a:chOff x="1823887" y="3891436"/>
            <a:chExt cx="800100" cy="800100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16CAEBB-8497-49D1-B1F1-A4130E774E83}"/>
                </a:ext>
              </a:extLst>
            </p:cNvPr>
            <p:cNvSpPr/>
            <p:nvPr/>
          </p:nvSpPr>
          <p:spPr>
            <a:xfrm>
              <a:off x="1823887" y="3891436"/>
              <a:ext cx="800100" cy="800100"/>
            </a:xfrm>
            <a:prstGeom prst="ellipse">
              <a:avLst/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solidFill>
                  <a:schemeClr val="tx1"/>
                </a:solidFill>
                <a:latin typeface="SOGANG UNIVERSITY" pitchFamily="2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767C1C9-3F47-490A-B338-0FD0B1DF985F}"/>
                </a:ext>
              </a:extLst>
            </p:cNvPr>
            <p:cNvSpPr txBox="1"/>
            <p:nvPr/>
          </p:nvSpPr>
          <p:spPr>
            <a:xfrm>
              <a:off x="1995954" y="4011602"/>
              <a:ext cx="455964" cy="55976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dirty="0">
                  <a:latin typeface="SOGANG UNIVERSITY" pitchFamily="2" charset="-127"/>
                  <a:ea typeface="SOGANG UNIVERSITY" pitchFamily="2" charset="-127"/>
                  <a:cs typeface="72 Black" panose="020B0A04030603020204" pitchFamily="34" charset="0"/>
                </a:rPr>
                <a:t>3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5B7B906-8F47-D0AA-6A59-1811124A14DD}"/>
              </a:ext>
            </a:extLst>
          </p:cNvPr>
          <p:cNvGrpSpPr/>
          <p:nvPr/>
        </p:nvGrpSpPr>
        <p:grpSpPr>
          <a:xfrm>
            <a:off x="2099710" y="4765474"/>
            <a:ext cx="571894" cy="571894"/>
            <a:chOff x="1823887" y="4884569"/>
            <a:chExt cx="800100" cy="800100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2EAC3E0-C8A9-4862-84D4-47F78F1548DF}"/>
                </a:ext>
              </a:extLst>
            </p:cNvPr>
            <p:cNvSpPr/>
            <p:nvPr/>
          </p:nvSpPr>
          <p:spPr>
            <a:xfrm>
              <a:off x="1823887" y="4884569"/>
              <a:ext cx="800100" cy="800100"/>
            </a:xfrm>
            <a:prstGeom prst="ellipse">
              <a:avLst/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solidFill>
                  <a:schemeClr val="tx1"/>
                </a:solidFill>
                <a:latin typeface="SOGANG UNIVERSITY" pitchFamily="2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ACB3CAE-2182-4F5E-A8D4-DAA2F44BE89A}"/>
                </a:ext>
              </a:extLst>
            </p:cNvPr>
            <p:cNvSpPr txBox="1"/>
            <p:nvPr/>
          </p:nvSpPr>
          <p:spPr>
            <a:xfrm>
              <a:off x="1995954" y="5004735"/>
              <a:ext cx="455964" cy="55976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dirty="0">
                  <a:latin typeface="SOGANG UNIVERSITY" pitchFamily="2" charset="-127"/>
                  <a:ea typeface="SOGANG UNIVERSITY" pitchFamily="2" charset="-127"/>
                  <a:cs typeface="72 Black" panose="020B0A04030603020204" pitchFamily="34" charset="0"/>
                </a:rPr>
                <a:t>5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38BAE83-65A3-708D-9F6C-BF5A4AC118B8}"/>
              </a:ext>
            </a:extLst>
          </p:cNvPr>
          <p:cNvSpPr txBox="1"/>
          <p:nvPr/>
        </p:nvSpPr>
        <p:spPr>
          <a:xfrm>
            <a:off x="2988393" y="4177624"/>
            <a:ext cx="347998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실험 셋업</a:t>
            </a:r>
            <a:endParaRPr lang="en-US" altLang="ko-KR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F1DFF42-C2B3-E8AA-7F6E-9225E5D2AA2C}"/>
              </a:ext>
            </a:extLst>
          </p:cNvPr>
          <p:cNvGrpSpPr/>
          <p:nvPr/>
        </p:nvGrpSpPr>
        <p:grpSpPr>
          <a:xfrm>
            <a:off x="2099710" y="4084999"/>
            <a:ext cx="571894" cy="571894"/>
            <a:chOff x="1823887" y="4884569"/>
            <a:chExt cx="800100" cy="800100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0536E20-D80E-F4F5-B1AB-3A633B312114}"/>
                </a:ext>
              </a:extLst>
            </p:cNvPr>
            <p:cNvSpPr/>
            <p:nvPr/>
          </p:nvSpPr>
          <p:spPr>
            <a:xfrm>
              <a:off x="1823887" y="4884569"/>
              <a:ext cx="800100" cy="800100"/>
            </a:xfrm>
            <a:prstGeom prst="ellipse">
              <a:avLst/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solidFill>
                  <a:schemeClr val="tx1"/>
                </a:solidFill>
                <a:latin typeface="SOGANG UNIVERSITY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728DE82-93ED-5E4A-00AD-034C454C6511}"/>
                </a:ext>
              </a:extLst>
            </p:cNvPr>
            <p:cNvSpPr txBox="1"/>
            <p:nvPr/>
          </p:nvSpPr>
          <p:spPr>
            <a:xfrm>
              <a:off x="1995954" y="5004735"/>
              <a:ext cx="455964" cy="55976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dirty="0">
                  <a:latin typeface="SOGANG UNIVERSITY" pitchFamily="2" charset="-127"/>
                  <a:ea typeface="SOGANG UNIVERSITY" pitchFamily="2" charset="-127"/>
                  <a:cs typeface="72 Black" panose="020B0A04030603020204" pitchFamily="34" charset="0"/>
                </a:rPr>
                <a:t>4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3A0066F4-8F56-33CE-46E9-CF5B8E3769C6}"/>
              </a:ext>
            </a:extLst>
          </p:cNvPr>
          <p:cNvSpPr txBox="1"/>
          <p:nvPr/>
        </p:nvSpPr>
        <p:spPr>
          <a:xfrm>
            <a:off x="2974106" y="5550103"/>
            <a:ext cx="385391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토의 및 결론</a:t>
            </a:r>
            <a:endParaRPr lang="en-US" altLang="ko-KR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38765AA-817B-1893-6A79-2602C0C80066}"/>
              </a:ext>
            </a:extLst>
          </p:cNvPr>
          <p:cNvGrpSpPr/>
          <p:nvPr/>
        </p:nvGrpSpPr>
        <p:grpSpPr>
          <a:xfrm>
            <a:off x="2099710" y="5461769"/>
            <a:ext cx="571894" cy="571894"/>
            <a:chOff x="1823887" y="4884569"/>
            <a:chExt cx="800100" cy="800100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042834A3-2298-9D43-48B5-20C376F66A90}"/>
                </a:ext>
              </a:extLst>
            </p:cNvPr>
            <p:cNvSpPr/>
            <p:nvPr/>
          </p:nvSpPr>
          <p:spPr>
            <a:xfrm>
              <a:off x="1823887" y="4884569"/>
              <a:ext cx="800100" cy="800100"/>
            </a:xfrm>
            <a:prstGeom prst="ellipse">
              <a:avLst/>
            </a:prstGeom>
            <a:solidFill>
              <a:srgbClr val="C1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solidFill>
                  <a:schemeClr val="tx1"/>
                </a:solidFill>
                <a:latin typeface="SOGANG UNIVERSITY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AB497B6-0779-B776-018C-D6DD0CDF70A0}"/>
                </a:ext>
              </a:extLst>
            </p:cNvPr>
            <p:cNvSpPr txBox="1"/>
            <p:nvPr/>
          </p:nvSpPr>
          <p:spPr>
            <a:xfrm>
              <a:off x="1995954" y="5004735"/>
              <a:ext cx="455964" cy="55976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dirty="0">
                  <a:latin typeface="SOGANG UNIVERSITY" pitchFamily="2" charset="-127"/>
                  <a:ea typeface="SOGANG UNIVERSITY" pitchFamily="2" charset="-127"/>
                  <a:cs typeface="72 Black" panose="020B0A04030603020204" pitchFamily="34" charset="0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4743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8499D-AA79-4980-5398-1B5E0A8F6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F4AF712-71B7-A5DF-0BDA-7575F9E58FB9}"/>
              </a:ext>
            </a:extLst>
          </p:cNvPr>
          <p:cNvSpPr/>
          <p:nvPr/>
        </p:nvSpPr>
        <p:spPr>
          <a:xfrm flipV="1">
            <a:off x="422559" y="1432881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AF112D-56EF-1601-9ABB-B88588FF8791}"/>
              </a:ext>
            </a:extLst>
          </p:cNvPr>
          <p:cNvSpPr txBox="1"/>
          <p:nvPr/>
        </p:nvSpPr>
        <p:spPr>
          <a:xfrm>
            <a:off x="422560" y="392790"/>
            <a:ext cx="8277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1. </a:t>
            </a:r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연구 배경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9FDA6-B830-26A4-77D9-9B935D33BAE9}"/>
              </a:ext>
            </a:extLst>
          </p:cNvPr>
          <p:cNvSpPr txBox="1"/>
          <p:nvPr/>
        </p:nvSpPr>
        <p:spPr>
          <a:xfrm>
            <a:off x="422558" y="1846713"/>
            <a:ext cx="8321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고유가 시대</a:t>
            </a:r>
            <a:r>
              <a:rPr lang="en-US" altLang="ko-KR" sz="2400" b="1" dirty="0">
                <a:latin typeface="서강체" pitchFamily="50" charset="-127"/>
                <a:ea typeface="서강체" pitchFamily="50" charset="-127"/>
              </a:rPr>
              <a:t>! </a:t>
            </a:r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자동차도 에너지 효율을 더욱 고려해야 한다</a:t>
            </a:r>
            <a:r>
              <a:rPr lang="en-US" altLang="ko-KR" sz="2400" b="1" dirty="0">
                <a:latin typeface="서강체" pitchFamily="50" charset="-127"/>
                <a:ea typeface="서강체" pitchFamily="50" charset="-127"/>
              </a:rPr>
              <a:t>.</a:t>
            </a:r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 </a:t>
            </a:r>
            <a:endParaRPr lang="en-US" altLang="ko-KR" sz="2400" b="1" dirty="0">
              <a:latin typeface="서강체" pitchFamily="50" charset="-127"/>
              <a:ea typeface="서강체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5913A0D-8E0C-F80B-AE22-44A91E74B2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2FD319A-ABCC-415E-0896-55AD2B488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11" y="2676491"/>
            <a:ext cx="4570752" cy="27486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648869-E43D-89F1-D51E-B5CDF32A41D9}"/>
              </a:ext>
            </a:extLst>
          </p:cNvPr>
          <p:cNvSpPr txBox="1"/>
          <p:nvPr/>
        </p:nvSpPr>
        <p:spPr>
          <a:xfrm>
            <a:off x="128495" y="6548736"/>
            <a:ext cx="60511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ea typeface="SOGANG UNIVERSITY"/>
              </a:rPr>
              <a:t>출처 </a:t>
            </a:r>
            <a:r>
              <a:rPr lang="en-US" altLang="ko-KR" sz="1000" dirty="0">
                <a:ea typeface="SOGANG UNIVERSITY"/>
              </a:rPr>
              <a:t>: </a:t>
            </a:r>
            <a:r>
              <a:rPr lang="ko-KR" altLang="en-US" sz="1000" dirty="0">
                <a:ea typeface="SOGANG UNIVERSITY"/>
              </a:rPr>
              <a:t>https://www.chosun.com/national/national_general/2026/06/11/3LHL6SJCQNEBHATIOJNSUSU2AI/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BAE533-BA8E-AA65-915C-21E7F90D167E}"/>
              </a:ext>
            </a:extLst>
          </p:cNvPr>
          <p:cNvSpPr txBox="1"/>
          <p:nvPr/>
        </p:nvSpPr>
        <p:spPr>
          <a:xfrm>
            <a:off x="5471858" y="2676491"/>
            <a:ext cx="335146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연료 제약이 </a:t>
            </a:r>
            <a:endParaRPr lang="en-US" altLang="ko-KR" sz="1700" dirty="0">
              <a:solidFill>
                <a:schemeClr val="tx1">
                  <a:lumMod val="50000"/>
                  <a:lumOff val="50000"/>
                </a:schemeClr>
              </a:solidFill>
              <a:latin typeface="서강체" pitchFamily="50" charset="-127"/>
              <a:ea typeface="서강체" pitchFamily="50" charset="-127"/>
            </a:endParaRPr>
          </a:p>
          <a:p>
            <a:r>
              <a:rPr lang="ko-KR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주행 에이전트를 더 효율적으로 만드는지 현실 문제를 반영하여 검증하게 되었습니다</a:t>
            </a:r>
            <a:r>
              <a:rPr lang="en-US" altLang="ko-KR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.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서강체" pitchFamily="50" charset="-127"/>
              <a:ea typeface="서강체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7591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33043C6-D7D9-44DF-8A94-1B7AAB986EED}"/>
              </a:ext>
            </a:extLst>
          </p:cNvPr>
          <p:cNvSpPr/>
          <p:nvPr/>
        </p:nvSpPr>
        <p:spPr>
          <a:xfrm flipV="1">
            <a:off x="422559" y="1432881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0D6FEE-3D41-4220-82E3-2B6DBF246E96}"/>
              </a:ext>
            </a:extLst>
          </p:cNvPr>
          <p:cNvSpPr txBox="1"/>
          <p:nvPr/>
        </p:nvSpPr>
        <p:spPr>
          <a:xfrm>
            <a:off x="422560" y="392790"/>
            <a:ext cx="8277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1. </a:t>
            </a:r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연구 배경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10D7A-7243-2231-39AE-74562D4E246C}"/>
              </a:ext>
            </a:extLst>
          </p:cNvPr>
          <p:cNvSpPr txBox="1"/>
          <p:nvPr/>
        </p:nvSpPr>
        <p:spPr>
          <a:xfrm>
            <a:off x="422559" y="1631563"/>
            <a:ext cx="3755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연구 가설</a:t>
            </a:r>
            <a:endParaRPr lang="en-US" altLang="ko-KR" sz="2400" b="1" dirty="0">
              <a:latin typeface="서강체" pitchFamily="50" charset="-127"/>
              <a:ea typeface="서강체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8CD4D26-8F3F-CB46-6A39-10127934A1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3606124-59A3-F4FF-04ED-698A738A99D9}"/>
              </a:ext>
            </a:extLst>
          </p:cNvPr>
          <p:cNvSpPr/>
          <p:nvPr/>
        </p:nvSpPr>
        <p:spPr>
          <a:xfrm rot="10800000" flipV="1">
            <a:off x="422558" y="2144595"/>
            <a:ext cx="8350900" cy="9119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DA242C"/>
                </a:solidFill>
                <a:latin typeface="SOGANG UNIVERSITY" pitchFamily="2" charset="-127"/>
              </a:rPr>
              <a:t>"</a:t>
            </a:r>
            <a:r>
              <a:rPr lang="ko-KR" altLang="en-US" dirty="0">
                <a:solidFill>
                  <a:srgbClr val="DA242C"/>
                </a:solidFill>
                <a:latin typeface="SOGANG UNIVERSITY" pitchFamily="2" charset="-127"/>
              </a:rPr>
              <a:t>연료 제약 조건을 추가하면 에이전트가 더 효율적인 경로를 학습할 것이다</a:t>
            </a:r>
            <a:r>
              <a:rPr lang="en-US" altLang="ko-KR" dirty="0">
                <a:solidFill>
                  <a:srgbClr val="DA242C"/>
                </a:solidFill>
                <a:latin typeface="SOGANG UNIVERSITY" pitchFamily="2" charset="-127"/>
              </a:rPr>
              <a:t>.</a:t>
            </a:r>
          </a:p>
          <a:p>
            <a:pPr algn="ctr"/>
            <a:r>
              <a:rPr lang="ko-KR" altLang="en-US" dirty="0">
                <a:solidFill>
                  <a:srgbClr val="DA242C"/>
                </a:solidFill>
                <a:latin typeface="SOGANG UNIVERSITY" pitchFamily="2" charset="-127"/>
              </a:rPr>
              <a:t>단</a:t>
            </a:r>
            <a:r>
              <a:rPr lang="en-US" altLang="ko-KR" dirty="0">
                <a:solidFill>
                  <a:srgbClr val="DA242C"/>
                </a:solidFill>
                <a:latin typeface="SOGANG UNIVERSITY" pitchFamily="2" charset="-127"/>
              </a:rPr>
              <a:t>, </a:t>
            </a:r>
            <a:r>
              <a:rPr lang="ko-KR" altLang="en-US" dirty="0">
                <a:solidFill>
                  <a:srgbClr val="DA242C"/>
                </a:solidFill>
                <a:latin typeface="SOGANG UNIVERSITY" pitchFamily="2" charset="-127"/>
              </a:rPr>
              <a:t>연료가 너무 빡빡하면 성공률이 낮아지는 </a:t>
            </a:r>
            <a:r>
              <a:rPr lang="en-US" altLang="ko-KR" dirty="0">
                <a:solidFill>
                  <a:srgbClr val="DA242C"/>
                </a:solidFill>
                <a:latin typeface="SOGANG UNIVERSITY" pitchFamily="2" charset="-127"/>
              </a:rPr>
              <a:t>trade-off</a:t>
            </a:r>
            <a:r>
              <a:rPr lang="ko-KR" altLang="en-US" dirty="0">
                <a:solidFill>
                  <a:srgbClr val="DA242C"/>
                </a:solidFill>
                <a:latin typeface="SOGANG UNIVERSITY" pitchFamily="2" charset="-127"/>
              </a:rPr>
              <a:t>가 존재한다</a:t>
            </a:r>
            <a:r>
              <a:rPr lang="en-US" altLang="ko-KR" dirty="0">
                <a:solidFill>
                  <a:srgbClr val="DA242C"/>
                </a:solidFill>
                <a:latin typeface="SOGANG UNIVERSITY" pitchFamily="2" charset="-127"/>
              </a:rPr>
              <a:t>."</a:t>
            </a:r>
            <a:endParaRPr lang="ko-KR" altLang="en-US" dirty="0">
              <a:solidFill>
                <a:srgbClr val="DA242C"/>
              </a:solidFill>
              <a:latin typeface="SOGANG UNIVERSITY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1B0C0AB-EFB7-0EE3-5620-B93E4AEDD05E}"/>
              </a:ext>
            </a:extLst>
          </p:cNvPr>
          <p:cNvSpPr/>
          <p:nvPr/>
        </p:nvSpPr>
        <p:spPr>
          <a:xfrm rot="10800000" flipV="1">
            <a:off x="387348" y="3416533"/>
            <a:ext cx="2446696" cy="120677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BC322B-9F4B-3108-257A-C3EEB2CD9F56}"/>
              </a:ext>
            </a:extLst>
          </p:cNvPr>
          <p:cNvSpPr/>
          <p:nvPr/>
        </p:nvSpPr>
        <p:spPr>
          <a:xfrm rot="10800000" flipV="1">
            <a:off x="3348651" y="3416533"/>
            <a:ext cx="2446697" cy="120677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F9F362-8908-D868-E968-C459BBFB7381}"/>
              </a:ext>
            </a:extLst>
          </p:cNvPr>
          <p:cNvSpPr/>
          <p:nvPr/>
        </p:nvSpPr>
        <p:spPr>
          <a:xfrm rot="10800000" flipV="1">
            <a:off x="6309952" y="3416533"/>
            <a:ext cx="2446697" cy="120677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AA3C2C-BD00-A446-DB13-18A6BD74D8FA}"/>
              </a:ext>
            </a:extLst>
          </p:cNvPr>
          <p:cNvSpPr/>
          <p:nvPr/>
        </p:nvSpPr>
        <p:spPr>
          <a:xfrm rot="10800000" flipV="1">
            <a:off x="387346" y="3537210"/>
            <a:ext cx="2446697" cy="26544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D436F2-308E-D033-10FC-6BA66D89910C}"/>
              </a:ext>
            </a:extLst>
          </p:cNvPr>
          <p:cNvSpPr/>
          <p:nvPr/>
        </p:nvSpPr>
        <p:spPr>
          <a:xfrm rot="10800000" flipV="1">
            <a:off x="3348652" y="3537210"/>
            <a:ext cx="2446696" cy="26544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BA5F899-E8D4-945D-63F6-5D7D8A6DD444}"/>
              </a:ext>
            </a:extLst>
          </p:cNvPr>
          <p:cNvSpPr/>
          <p:nvPr/>
        </p:nvSpPr>
        <p:spPr>
          <a:xfrm rot="10800000" flipV="1">
            <a:off x="6309952" y="3537210"/>
            <a:ext cx="2446696" cy="26544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393AED-7396-0474-7A4C-4C79C82E26BB}"/>
              </a:ext>
            </a:extLst>
          </p:cNvPr>
          <p:cNvSpPr txBox="1"/>
          <p:nvPr/>
        </p:nvSpPr>
        <p:spPr>
          <a:xfrm>
            <a:off x="500400" y="4853183"/>
            <a:ext cx="2266541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- Taxi-v4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에 연료 시스템을 추가한 커스텀 환경 구현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SOGANG UNIVERSITY" pitchFamily="2" charset="-127"/>
              <a:ea typeface="SOGANG UNIVERSITY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6E6BD1-7828-3F3F-367C-07FE5A87D08C}"/>
              </a:ext>
            </a:extLst>
          </p:cNvPr>
          <p:cNvSpPr txBox="1"/>
          <p:nvPr/>
        </p:nvSpPr>
        <p:spPr>
          <a:xfrm>
            <a:off x="534105" y="4436490"/>
            <a:ext cx="1485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환경 설계</a:t>
            </a:r>
            <a:endParaRPr lang="en-US" altLang="ko-KR" sz="20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83CF47-F647-0874-6F99-9445C1CE4D7C}"/>
              </a:ext>
            </a:extLst>
          </p:cNvPr>
          <p:cNvSpPr txBox="1"/>
          <p:nvPr/>
        </p:nvSpPr>
        <p:spPr>
          <a:xfrm>
            <a:off x="3461309" y="4858304"/>
            <a:ext cx="2258174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- Q-Learning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과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SARSA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를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가지 연료 조건에서 비교 실험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SOGANG UNIVERSITY" pitchFamily="2" charset="-127"/>
              <a:ea typeface="SOGANG UNIVERSITY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240B5A-B54F-8DA0-CDA1-AC00A221840A}"/>
              </a:ext>
            </a:extLst>
          </p:cNvPr>
          <p:cNvSpPr txBox="1"/>
          <p:nvPr/>
        </p:nvSpPr>
        <p:spPr>
          <a:xfrm>
            <a:off x="3500479" y="4436490"/>
            <a:ext cx="1955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알고리즘 비교</a:t>
            </a:r>
            <a:endParaRPr lang="en-US" altLang="ko-KR" sz="20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8BB44A-73AA-BCAD-720D-5D3F996635DF}"/>
              </a:ext>
            </a:extLst>
          </p:cNvPr>
          <p:cNvSpPr txBox="1"/>
          <p:nvPr/>
        </p:nvSpPr>
        <p:spPr>
          <a:xfrm>
            <a:off x="6312471" y="4853183"/>
            <a:ext cx="2568010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-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연료 제약 강도에 따른 성공률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·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경로 효율의 변화 분석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SOGANG UNIVERSITY" pitchFamily="2" charset="-127"/>
              <a:ea typeface="SOGANG UNIVERSITY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C83798-92E5-408A-8967-7F429C8795A9}"/>
              </a:ext>
            </a:extLst>
          </p:cNvPr>
          <p:cNvSpPr txBox="1"/>
          <p:nvPr/>
        </p:nvSpPr>
        <p:spPr>
          <a:xfrm>
            <a:off x="6416862" y="4435745"/>
            <a:ext cx="1485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가설 검증</a:t>
            </a:r>
            <a:endParaRPr lang="en-US" altLang="ko-KR" sz="20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7F3CA64-94DD-1725-35EE-948EE10AE1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2" t="16046" r="74791" b="55535"/>
          <a:stretch/>
        </p:blipFill>
        <p:spPr>
          <a:xfrm>
            <a:off x="500401" y="3639207"/>
            <a:ext cx="584370" cy="74094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E958FBB-EE7F-DE0B-5AD3-9C4AA577C1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2" t="16046" r="74791" b="55535"/>
          <a:stretch/>
        </p:blipFill>
        <p:spPr>
          <a:xfrm>
            <a:off x="3462646" y="3639207"/>
            <a:ext cx="584370" cy="74094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F65ABFC-B9EE-E446-0CCE-E072AD7CC8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2" t="16046" r="74791" b="55535"/>
          <a:stretch/>
        </p:blipFill>
        <p:spPr>
          <a:xfrm>
            <a:off x="6416862" y="3639207"/>
            <a:ext cx="584370" cy="74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66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4A6C8-B56B-1C37-939A-448B275B3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872E706A-6DFA-A2C1-A8FA-EA4532E7BEBF}"/>
              </a:ext>
            </a:extLst>
          </p:cNvPr>
          <p:cNvGrpSpPr/>
          <p:nvPr/>
        </p:nvGrpSpPr>
        <p:grpSpPr>
          <a:xfrm>
            <a:off x="678641" y="564548"/>
            <a:ext cx="7971993" cy="5951495"/>
            <a:chOff x="347078" y="743127"/>
            <a:chExt cx="7971993" cy="5951495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AFA427E3-B456-4F77-5D43-F4DB95394233}"/>
                </a:ext>
              </a:extLst>
            </p:cNvPr>
            <p:cNvGrpSpPr/>
            <p:nvPr/>
          </p:nvGrpSpPr>
          <p:grpSpPr>
            <a:xfrm>
              <a:off x="347078" y="743127"/>
              <a:ext cx="7971993" cy="5951495"/>
              <a:chOff x="347078" y="743127"/>
              <a:chExt cx="7971993" cy="5951495"/>
            </a:xfrm>
          </p:grpSpPr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08F09493-3BAF-C7E8-3643-0189CAAE6469}"/>
                  </a:ext>
                </a:extLst>
              </p:cNvPr>
              <p:cNvSpPr/>
              <p:nvPr/>
            </p:nvSpPr>
            <p:spPr>
              <a:xfrm>
                <a:off x="506360" y="743127"/>
                <a:ext cx="7812711" cy="5781300"/>
              </a:xfrm>
              <a:prstGeom prst="rect">
                <a:avLst/>
              </a:prstGeom>
              <a:solidFill>
                <a:srgbClr val="AB1E24"/>
              </a:solidFill>
              <a:ln>
                <a:noFill/>
              </a:ln>
              <a:effectLst>
                <a:outerShdw blurRad="148115" dist="50800" dir="18600000" sx="99960" sy="99960" algn="ctr" rotWithShape="0">
                  <a:srgbClr val="000000">
                    <a:alpha val="21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endParaRPr lang="ko-KR" altLang="en-US" sz="1600" dirty="0">
                  <a:latin typeface="SOGANG UNIVERSITY" pitchFamily="2" charset="-127"/>
                </a:endParaRPr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0065DC53-C073-52BD-BFCD-F8A3D5DD2206}"/>
                  </a:ext>
                </a:extLst>
              </p:cNvPr>
              <p:cNvSpPr/>
              <p:nvPr/>
            </p:nvSpPr>
            <p:spPr>
              <a:xfrm>
                <a:off x="347078" y="913323"/>
                <a:ext cx="7812711" cy="57812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09521" dist="73681" dir="7440000" algn="ctr" rotWithShape="0">
                  <a:srgbClr val="000000">
                    <a:alpha val="22931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 algn="ctr">
                  <a:buFont typeface="Arial" panose="020B0604020202020204" pitchFamily="34" charset="0"/>
                  <a:buChar char="•"/>
                </a:pPr>
                <a:endParaRPr lang="ko-KR" altLang="en-US" sz="1600" dirty="0">
                  <a:latin typeface="SOGANG UNIVERSITY" pitchFamily="2" charset="-127"/>
                </a:endParaRPr>
              </a:p>
            </p:txBody>
          </p:sp>
        </p:grp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F724E9EC-D5E7-3F21-2AF5-B2DA3044EB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3434" y="2145157"/>
              <a:ext cx="0" cy="4549465"/>
            </a:xfrm>
            <a:prstGeom prst="line">
              <a:avLst/>
            </a:prstGeom>
            <a:ln w="31750" cap="rnd">
              <a:solidFill>
                <a:srgbClr val="C1C1C1">
                  <a:alpha val="43818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850E891-DC88-2BA5-CB87-3440943EB83C}"/>
              </a:ext>
            </a:extLst>
          </p:cNvPr>
          <p:cNvSpPr txBox="1"/>
          <p:nvPr/>
        </p:nvSpPr>
        <p:spPr>
          <a:xfrm>
            <a:off x="1328059" y="965941"/>
            <a:ext cx="64878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연료 시스템 추가 배경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A05C3FC-6CD9-54BF-9481-9E40D5B0FD91}"/>
              </a:ext>
            </a:extLst>
          </p:cNvPr>
          <p:cNvCxnSpPr/>
          <p:nvPr/>
        </p:nvCxnSpPr>
        <p:spPr>
          <a:xfrm>
            <a:off x="1389929" y="2716570"/>
            <a:ext cx="2508308" cy="0"/>
          </a:xfrm>
          <a:prstGeom prst="line">
            <a:avLst/>
          </a:prstGeom>
          <a:ln w="1270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C00EB28-7031-F8AA-3E5A-123FDED146A9}"/>
              </a:ext>
            </a:extLst>
          </p:cNvPr>
          <p:cNvCxnSpPr/>
          <p:nvPr/>
        </p:nvCxnSpPr>
        <p:spPr>
          <a:xfrm>
            <a:off x="5307633" y="2709580"/>
            <a:ext cx="2508308" cy="0"/>
          </a:xfrm>
          <a:prstGeom prst="line">
            <a:avLst/>
          </a:prstGeom>
          <a:ln w="1270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E41B5E2-1893-1CA0-E992-8F100EC846CC}"/>
              </a:ext>
            </a:extLst>
          </p:cNvPr>
          <p:cNvSpPr txBox="1"/>
          <p:nvPr/>
        </p:nvSpPr>
        <p:spPr>
          <a:xfrm>
            <a:off x="1820891" y="2210613"/>
            <a:ext cx="162733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0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기존 </a:t>
            </a:r>
            <a:r>
              <a:rPr lang="en-US" altLang="ko-KR" sz="20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Taxi-v4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8AAB15-6CF3-17A7-6E22-D671021774C2}"/>
              </a:ext>
            </a:extLst>
          </p:cNvPr>
          <p:cNvSpPr txBox="1"/>
          <p:nvPr/>
        </p:nvSpPr>
        <p:spPr>
          <a:xfrm>
            <a:off x="5727247" y="2197414"/>
            <a:ext cx="1918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연료 제약 환경</a:t>
            </a:r>
            <a:endParaRPr lang="en-US" altLang="ko-KR" sz="20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E9EC4E-4BC6-089E-27DC-C7E699203438}"/>
              </a:ext>
            </a:extLst>
          </p:cNvPr>
          <p:cNvSpPr txBox="1"/>
          <p:nvPr/>
        </p:nvSpPr>
        <p:spPr>
          <a:xfrm>
            <a:off x="1016347" y="2947767"/>
            <a:ext cx="3670168" cy="198971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에이전트가 이동 횟수에 제약 없이 무한히 탐색 가능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현실의 차량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·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로봇 에이전트는 항상 에너지 제약이 존재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제약 없는 환경에서는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'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최적 경로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'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를 학습할 유인이 약함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2181A9-8432-565E-8C5B-F85ACCAD2AC1}"/>
              </a:ext>
            </a:extLst>
          </p:cNvPr>
          <p:cNvSpPr txBox="1"/>
          <p:nvPr/>
        </p:nvSpPr>
        <p:spPr>
          <a:xfrm>
            <a:off x="4845797" y="2890642"/>
            <a:ext cx="3533215" cy="1666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이동 행동이 연료를 소모한다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연료가 부족하면 주유소를 방문해야 한다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OGANG UNIVERSITY" pitchFamily="2" charset="-127"/>
                <a:ea typeface="SOGANG UNIVERSITY" pitchFamily="2" charset="-127"/>
              </a:rPr>
              <a:t>연료 제약이 너무 강하면 성공률이 낮아질 수 있다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SOGANG UNIVERSITY" pitchFamily="2" charset="-127"/>
              <a:ea typeface="SOGANG UNIVERSITY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AC8690F-48C7-7F24-9CC5-7772D5F05F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98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A86D6-F2D0-D930-E33B-EC823198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ABDF21E9-6624-BBFE-44A2-CB053F2DCE36}"/>
              </a:ext>
            </a:extLst>
          </p:cNvPr>
          <p:cNvSpPr/>
          <p:nvPr/>
        </p:nvSpPr>
        <p:spPr>
          <a:xfrm flipV="1">
            <a:off x="422559" y="1432881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86539-2A96-F5E3-7628-CEA22984B633}"/>
              </a:ext>
            </a:extLst>
          </p:cNvPr>
          <p:cNvSpPr txBox="1"/>
          <p:nvPr/>
        </p:nvSpPr>
        <p:spPr>
          <a:xfrm>
            <a:off x="422560" y="392790"/>
            <a:ext cx="8277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2. </a:t>
            </a:r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환경 설계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A1DB6F-667B-D734-249E-54593AFB17EA}"/>
              </a:ext>
            </a:extLst>
          </p:cNvPr>
          <p:cNvSpPr txBox="1"/>
          <p:nvPr/>
        </p:nvSpPr>
        <p:spPr>
          <a:xfrm>
            <a:off x="422559" y="1846713"/>
            <a:ext cx="3755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latin typeface="서강체" pitchFamily="50" charset="-127"/>
                <a:ea typeface="서강체" pitchFamily="50" charset="-127"/>
              </a:rPr>
              <a:t>Taxi-v4 (</a:t>
            </a:r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기본 환경</a:t>
            </a:r>
            <a:r>
              <a:rPr lang="en-US" altLang="ko-KR" sz="2400" b="1" dirty="0">
                <a:latin typeface="서강체" pitchFamily="50" charset="-127"/>
                <a:ea typeface="서강체" pitchFamily="50" charset="-127"/>
              </a:rPr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9F69A5D-1CFC-ED69-4F04-B00E9AB4CB3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2" name="Shape 6">
            <a:extLst>
              <a:ext uri="{FF2B5EF4-FFF2-40B4-BE49-F238E27FC236}">
                <a16:creationId xmlns:a16="http://schemas.microsoft.com/office/drawing/2014/main" id="{DCF4C9B7-3898-86B9-6743-EAD2D147FDDD}"/>
              </a:ext>
            </a:extLst>
          </p:cNvPr>
          <p:cNvSpPr/>
          <p:nvPr/>
        </p:nvSpPr>
        <p:spPr>
          <a:xfrm>
            <a:off x="1028906" y="2411375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6FE9669B-6AA1-54CF-9579-8AAB40EEF2F3}"/>
              </a:ext>
            </a:extLst>
          </p:cNvPr>
          <p:cNvSpPr/>
          <p:nvPr/>
        </p:nvSpPr>
        <p:spPr>
          <a:xfrm>
            <a:off x="1504394" y="2411375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7640A893-E4BA-53FE-E4D8-385C2A0998ED}"/>
              </a:ext>
            </a:extLst>
          </p:cNvPr>
          <p:cNvSpPr/>
          <p:nvPr/>
        </p:nvSpPr>
        <p:spPr>
          <a:xfrm>
            <a:off x="1979882" y="2411375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B3A035B0-0589-61D8-A7C8-0418F8CC73CF}"/>
              </a:ext>
            </a:extLst>
          </p:cNvPr>
          <p:cNvSpPr/>
          <p:nvPr/>
        </p:nvSpPr>
        <p:spPr>
          <a:xfrm>
            <a:off x="2455370" y="2411375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4DB52B9B-DBEE-3889-B5A0-95D353D11AA3}"/>
              </a:ext>
            </a:extLst>
          </p:cNvPr>
          <p:cNvSpPr/>
          <p:nvPr/>
        </p:nvSpPr>
        <p:spPr>
          <a:xfrm>
            <a:off x="2930858" y="2411375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7019FCBB-ED94-2F9D-4811-718E97DAA6BE}"/>
              </a:ext>
            </a:extLst>
          </p:cNvPr>
          <p:cNvSpPr/>
          <p:nvPr/>
        </p:nvSpPr>
        <p:spPr>
          <a:xfrm>
            <a:off x="1028906" y="2886863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04BB83F9-AE8B-A7CE-FAE4-895BBC658DA4}"/>
              </a:ext>
            </a:extLst>
          </p:cNvPr>
          <p:cNvSpPr/>
          <p:nvPr/>
        </p:nvSpPr>
        <p:spPr>
          <a:xfrm>
            <a:off x="1504394" y="2886863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0C358FA4-D73D-DA28-82C8-AB8C92B949EF}"/>
              </a:ext>
            </a:extLst>
          </p:cNvPr>
          <p:cNvSpPr/>
          <p:nvPr/>
        </p:nvSpPr>
        <p:spPr>
          <a:xfrm>
            <a:off x="1979882" y="2886863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E0CC7F08-6987-3265-7D52-08012AC663AF}"/>
              </a:ext>
            </a:extLst>
          </p:cNvPr>
          <p:cNvSpPr/>
          <p:nvPr/>
        </p:nvSpPr>
        <p:spPr>
          <a:xfrm>
            <a:off x="2455370" y="2886863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BAC084BA-2434-C826-B336-14B5A74A7C80}"/>
              </a:ext>
            </a:extLst>
          </p:cNvPr>
          <p:cNvSpPr/>
          <p:nvPr/>
        </p:nvSpPr>
        <p:spPr>
          <a:xfrm>
            <a:off x="2930858" y="2886863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20896293-25AA-6CB3-757E-6CDAFE345C07}"/>
              </a:ext>
            </a:extLst>
          </p:cNvPr>
          <p:cNvSpPr/>
          <p:nvPr/>
        </p:nvSpPr>
        <p:spPr>
          <a:xfrm>
            <a:off x="1028906" y="3362351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1225CC4D-F2BD-8241-0561-C31E12A7F82A}"/>
              </a:ext>
            </a:extLst>
          </p:cNvPr>
          <p:cNvSpPr/>
          <p:nvPr/>
        </p:nvSpPr>
        <p:spPr>
          <a:xfrm>
            <a:off x="1504394" y="3362351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4729A8EC-7D24-10F9-BCC2-5470A7170BB3}"/>
              </a:ext>
            </a:extLst>
          </p:cNvPr>
          <p:cNvSpPr/>
          <p:nvPr/>
        </p:nvSpPr>
        <p:spPr>
          <a:xfrm>
            <a:off x="1979882" y="3362351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F5853E1E-3233-CC14-308A-84B341BB7593}"/>
              </a:ext>
            </a:extLst>
          </p:cNvPr>
          <p:cNvSpPr/>
          <p:nvPr/>
        </p:nvSpPr>
        <p:spPr>
          <a:xfrm>
            <a:off x="2455370" y="3362351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47B35640-1BB4-A604-532B-17DC52A4DA11}"/>
              </a:ext>
            </a:extLst>
          </p:cNvPr>
          <p:cNvSpPr/>
          <p:nvPr/>
        </p:nvSpPr>
        <p:spPr>
          <a:xfrm>
            <a:off x="2930858" y="3362351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AF593882-0A77-5499-CCB6-72C587E8D515}"/>
              </a:ext>
            </a:extLst>
          </p:cNvPr>
          <p:cNvSpPr/>
          <p:nvPr/>
        </p:nvSpPr>
        <p:spPr>
          <a:xfrm>
            <a:off x="1028906" y="3837839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0CCFCD74-F0F4-DBFE-A344-B9A09535A5FC}"/>
              </a:ext>
            </a:extLst>
          </p:cNvPr>
          <p:cNvSpPr/>
          <p:nvPr/>
        </p:nvSpPr>
        <p:spPr>
          <a:xfrm>
            <a:off x="1504394" y="3837839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670CAAC9-86A3-C59F-13D0-15D19C570F3E}"/>
              </a:ext>
            </a:extLst>
          </p:cNvPr>
          <p:cNvSpPr/>
          <p:nvPr/>
        </p:nvSpPr>
        <p:spPr>
          <a:xfrm>
            <a:off x="1979882" y="3837839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592476FF-9E9B-166E-D6E5-BB74A7CE1D44}"/>
              </a:ext>
            </a:extLst>
          </p:cNvPr>
          <p:cNvSpPr/>
          <p:nvPr/>
        </p:nvSpPr>
        <p:spPr>
          <a:xfrm>
            <a:off x="2455370" y="3837839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D4AE92F5-BF7F-E113-426A-E54AE7E67913}"/>
              </a:ext>
            </a:extLst>
          </p:cNvPr>
          <p:cNvSpPr/>
          <p:nvPr/>
        </p:nvSpPr>
        <p:spPr>
          <a:xfrm>
            <a:off x="2930858" y="3837839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F7E1FA55-3DC1-B900-6817-EC7D19776D50}"/>
              </a:ext>
            </a:extLst>
          </p:cNvPr>
          <p:cNvSpPr/>
          <p:nvPr/>
        </p:nvSpPr>
        <p:spPr>
          <a:xfrm>
            <a:off x="1028906" y="4313327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CBADF43E-DC01-11BD-5CF0-402D99C3D450}"/>
              </a:ext>
            </a:extLst>
          </p:cNvPr>
          <p:cNvSpPr/>
          <p:nvPr/>
        </p:nvSpPr>
        <p:spPr>
          <a:xfrm>
            <a:off x="1504394" y="4313327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C8D6567A-EC47-BCFE-31D0-A028FF646C50}"/>
              </a:ext>
            </a:extLst>
          </p:cNvPr>
          <p:cNvSpPr/>
          <p:nvPr/>
        </p:nvSpPr>
        <p:spPr>
          <a:xfrm>
            <a:off x="1979882" y="4313327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32CC4251-EB9F-B984-924D-A89D9124C13B}"/>
              </a:ext>
            </a:extLst>
          </p:cNvPr>
          <p:cNvSpPr/>
          <p:nvPr/>
        </p:nvSpPr>
        <p:spPr>
          <a:xfrm>
            <a:off x="2455370" y="4313327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B445D57D-7B38-21CC-F14E-24265B0A08E3}"/>
              </a:ext>
            </a:extLst>
          </p:cNvPr>
          <p:cNvSpPr/>
          <p:nvPr/>
        </p:nvSpPr>
        <p:spPr>
          <a:xfrm>
            <a:off x="2930858" y="4313327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50499496-3696-AD63-5CDF-EB71DA39AABD}"/>
              </a:ext>
            </a:extLst>
          </p:cNvPr>
          <p:cNvSpPr/>
          <p:nvPr/>
        </p:nvSpPr>
        <p:spPr>
          <a:xfrm>
            <a:off x="1065482" y="2447951"/>
            <a:ext cx="402336" cy="402336"/>
          </a:xfrm>
          <a:prstGeom prst="roundRect">
            <a:avLst>
              <a:gd name="adj" fmla="val 909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41D4B70D-68E3-5C08-A0E5-FE70388E42F2}"/>
              </a:ext>
            </a:extLst>
          </p:cNvPr>
          <p:cNvSpPr/>
          <p:nvPr/>
        </p:nvSpPr>
        <p:spPr>
          <a:xfrm>
            <a:off x="1028906" y="24113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R</a:t>
            </a:r>
            <a:endParaRPr lang="en-US" sz="140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95871FFC-729C-25B9-2784-34EF8DD1ACF3}"/>
              </a:ext>
            </a:extLst>
          </p:cNvPr>
          <p:cNvSpPr/>
          <p:nvPr/>
        </p:nvSpPr>
        <p:spPr>
          <a:xfrm>
            <a:off x="2967434" y="2447951"/>
            <a:ext cx="402336" cy="402336"/>
          </a:xfrm>
          <a:prstGeom prst="roundRect">
            <a:avLst>
              <a:gd name="adj" fmla="val 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876E26A6-3389-8721-D5B4-99CDB98301AF}"/>
              </a:ext>
            </a:extLst>
          </p:cNvPr>
          <p:cNvSpPr/>
          <p:nvPr/>
        </p:nvSpPr>
        <p:spPr>
          <a:xfrm>
            <a:off x="2930858" y="24113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G</a:t>
            </a:r>
            <a:endParaRPr lang="en-US" sz="1400" dirty="0"/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FB24394C-33AE-4406-A577-7101B474E62D}"/>
              </a:ext>
            </a:extLst>
          </p:cNvPr>
          <p:cNvSpPr/>
          <p:nvPr/>
        </p:nvSpPr>
        <p:spPr>
          <a:xfrm>
            <a:off x="1065482" y="4349903"/>
            <a:ext cx="402336" cy="402336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15DAF1DF-75A8-0DE4-5877-D35E236166AA}"/>
              </a:ext>
            </a:extLst>
          </p:cNvPr>
          <p:cNvSpPr/>
          <p:nvPr/>
        </p:nvSpPr>
        <p:spPr>
          <a:xfrm>
            <a:off x="1028906" y="431332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Y</a:t>
            </a:r>
            <a:endParaRPr lang="en-US" sz="1400" dirty="0"/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8783FA92-62A5-0DEF-D2A0-31F7F7564C6B}"/>
              </a:ext>
            </a:extLst>
          </p:cNvPr>
          <p:cNvSpPr/>
          <p:nvPr/>
        </p:nvSpPr>
        <p:spPr>
          <a:xfrm>
            <a:off x="2491946" y="4349903"/>
            <a:ext cx="402336" cy="402336"/>
          </a:xfrm>
          <a:prstGeom prst="roundRect">
            <a:avLst>
              <a:gd name="adj" fmla="val 909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DFA90545-612A-7926-410A-FED7468B5E3A}"/>
              </a:ext>
            </a:extLst>
          </p:cNvPr>
          <p:cNvSpPr/>
          <p:nvPr/>
        </p:nvSpPr>
        <p:spPr>
          <a:xfrm>
            <a:off x="2455370" y="431332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45A994-8402-2C3D-4112-6D39C9CD50FB}"/>
              </a:ext>
            </a:extLst>
          </p:cNvPr>
          <p:cNvSpPr txBox="1"/>
          <p:nvPr/>
        </p:nvSpPr>
        <p:spPr>
          <a:xfrm>
            <a:off x="3881834" y="2411375"/>
            <a:ext cx="4817513" cy="151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5×5 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격자 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500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개 상태 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(5·5·5·4)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6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개 행동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: 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남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·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북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·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동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·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서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·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탑승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·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하차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4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개 고정 위치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: R(0,0) G(0,4) Y(4,0) B(4,3)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Reward: -1/step, +20 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성공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, -10 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오류</a:t>
            </a:r>
            <a:endParaRPr lang="en-US" altLang="ko-KR" dirty="0">
              <a:latin typeface="서강체" pitchFamily="50" charset="-127"/>
              <a:ea typeface="서강체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7130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02F31-C67C-38FB-3B74-AAA9988F8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AF6C26F7-9CF4-E7FC-30AA-823FA0487CA4}"/>
              </a:ext>
            </a:extLst>
          </p:cNvPr>
          <p:cNvSpPr/>
          <p:nvPr/>
        </p:nvSpPr>
        <p:spPr>
          <a:xfrm flipV="1">
            <a:off x="422559" y="1432881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D69168-A8A8-52A7-A82B-7235F2341D97}"/>
              </a:ext>
            </a:extLst>
          </p:cNvPr>
          <p:cNvSpPr txBox="1"/>
          <p:nvPr/>
        </p:nvSpPr>
        <p:spPr>
          <a:xfrm>
            <a:off x="422560" y="392790"/>
            <a:ext cx="8277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2. </a:t>
            </a:r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환경 설계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E235E-6899-0874-A397-02CEBCD45C5D}"/>
              </a:ext>
            </a:extLst>
          </p:cNvPr>
          <p:cNvSpPr txBox="1"/>
          <p:nvPr/>
        </p:nvSpPr>
        <p:spPr>
          <a:xfrm>
            <a:off x="422559" y="1846713"/>
            <a:ext cx="3755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확장 환경</a:t>
            </a:r>
            <a:endParaRPr lang="en-US" altLang="ko-KR" sz="2400" b="1" dirty="0">
              <a:latin typeface="서강체" pitchFamily="50" charset="-127"/>
              <a:ea typeface="서강체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6E6B962-D1DD-9706-741F-27A451BDEF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2" name="Shape 6">
            <a:extLst>
              <a:ext uri="{FF2B5EF4-FFF2-40B4-BE49-F238E27FC236}">
                <a16:creationId xmlns:a16="http://schemas.microsoft.com/office/drawing/2014/main" id="{5E62C4B8-7291-A79B-333D-9EB37E10E4F5}"/>
              </a:ext>
            </a:extLst>
          </p:cNvPr>
          <p:cNvSpPr/>
          <p:nvPr/>
        </p:nvSpPr>
        <p:spPr>
          <a:xfrm>
            <a:off x="1028906" y="2411375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BEABE47F-0224-6A77-DEE0-F7943ED6F427}"/>
              </a:ext>
            </a:extLst>
          </p:cNvPr>
          <p:cNvSpPr/>
          <p:nvPr/>
        </p:nvSpPr>
        <p:spPr>
          <a:xfrm>
            <a:off x="1504394" y="2411375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C72E7523-9AE4-659C-66D2-4E9BDCFC3791}"/>
              </a:ext>
            </a:extLst>
          </p:cNvPr>
          <p:cNvSpPr/>
          <p:nvPr/>
        </p:nvSpPr>
        <p:spPr>
          <a:xfrm>
            <a:off x="1979882" y="2411375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5F020F00-3EB9-1646-469B-2B403AA63468}"/>
              </a:ext>
            </a:extLst>
          </p:cNvPr>
          <p:cNvSpPr/>
          <p:nvPr/>
        </p:nvSpPr>
        <p:spPr>
          <a:xfrm>
            <a:off x="2455370" y="2411375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24FED01C-DA90-3E48-5AF1-88CDA432DE4E}"/>
              </a:ext>
            </a:extLst>
          </p:cNvPr>
          <p:cNvSpPr/>
          <p:nvPr/>
        </p:nvSpPr>
        <p:spPr>
          <a:xfrm>
            <a:off x="2930858" y="2411375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B4DED744-4B23-CC62-DE5D-0BD8E93ECB51}"/>
              </a:ext>
            </a:extLst>
          </p:cNvPr>
          <p:cNvSpPr/>
          <p:nvPr/>
        </p:nvSpPr>
        <p:spPr>
          <a:xfrm>
            <a:off x="1028906" y="2886863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0F21F493-27CB-4D93-BCB2-DFC367082E61}"/>
              </a:ext>
            </a:extLst>
          </p:cNvPr>
          <p:cNvSpPr/>
          <p:nvPr/>
        </p:nvSpPr>
        <p:spPr>
          <a:xfrm>
            <a:off x="1504394" y="2886863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BA1740DF-6969-33FA-8769-8D501388160B}"/>
              </a:ext>
            </a:extLst>
          </p:cNvPr>
          <p:cNvSpPr/>
          <p:nvPr/>
        </p:nvSpPr>
        <p:spPr>
          <a:xfrm>
            <a:off x="1979882" y="2886863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D12D64BC-1F37-489B-C2C7-D415A25E8228}"/>
              </a:ext>
            </a:extLst>
          </p:cNvPr>
          <p:cNvSpPr/>
          <p:nvPr/>
        </p:nvSpPr>
        <p:spPr>
          <a:xfrm>
            <a:off x="2455370" y="2886863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C71A3EB5-2D3C-5B85-9C0F-052F20232F6B}"/>
              </a:ext>
            </a:extLst>
          </p:cNvPr>
          <p:cNvSpPr/>
          <p:nvPr/>
        </p:nvSpPr>
        <p:spPr>
          <a:xfrm>
            <a:off x="2930858" y="2886863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E2CAF6C8-7644-1046-5D57-866AA97C2731}"/>
              </a:ext>
            </a:extLst>
          </p:cNvPr>
          <p:cNvSpPr/>
          <p:nvPr/>
        </p:nvSpPr>
        <p:spPr>
          <a:xfrm>
            <a:off x="1028906" y="3362351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BFD75823-23A8-2866-5D01-9C0104C4CD8F}"/>
              </a:ext>
            </a:extLst>
          </p:cNvPr>
          <p:cNvSpPr/>
          <p:nvPr/>
        </p:nvSpPr>
        <p:spPr>
          <a:xfrm>
            <a:off x="1504394" y="3362351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324575CE-49A7-5BB2-520E-9F1691925F00}"/>
              </a:ext>
            </a:extLst>
          </p:cNvPr>
          <p:cNvSpPr/>
          <p:nvPr/>
        </p:nvSpPr>
        <p:spPr>
          <a:xfrm>
            <a:off x="1979882" y="3362351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FA4969D6-3CB6-7CC2-F9F1-0DE5115ADDCF}"/>
              </a:ext>
            </a:extLst>
          </p:cNvPr>
          <p:cNvSpPr/>
          <p:nvPr/>
        </p:nvSpPr>
        <p:spPr>
          <a:xfrm>
            <a:off x="2455370" y="3362351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3EBF5126-DA71-8241-3971-8F6B3D776386}"/>
              </a:ext>
            </a:extLst>
          </p:cNvPr>
          <p:cNvSpPr/>
          <p:nvPr/>
        </p:nvSpPr>
        <p:spPr>
          <a:xfrm>
            <a:off x="2930858" y="3362351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C1A040EC-66C5-6C7F-A59C-2E5ECEB2BEE4}"/>
              </a:ext>
            </a:extLst>
          </p:cNvPr>
          <p:cNvSpPr/>
          <p:nvPr/>
        </p:nvSpPr>
        <p:spPr>
          <a:xfrm>
            <a:off x="1028906" y="3837839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B964D6B3-EA56-E0C5-9047-A25788515A98}"/>
              </a:ext>
            </a:extLst>
          </p:cNvPr>
          <p:cNvSpPr/>
          <p:nvPr/>
        </p:nvSpPr>
        <p:spPr>
          <a:xfrm>
            <a:off x="1504394" y="3837839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8A509908-9D1F-5637-74D8-3FC2D39F1E13}"/>
              </a:ext>
            </a:extLst>
          </p:cNvPr>
          <p:cNvSpPr/>
          <p:nvPr/>
        </p:nvSpPr>
        <p:spPr>
          <a:xfrm>
            <a:off x="1979882" y="3837839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0A0BF883-1F4F-C2E2-796D-DDE05DA649F2}"/>
              </a:ext>
            </a:extLst>
          </p:cNvPr>
          <p:cNvSpPr/>
          <p:nvPr/>
        </p:nvSpPr>
        <p:spPr>
          <a:xfrm>
            <a:off x="2455370" y="3837839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DD36C1AF-D6C9-10B7-E111-53C2C5E0D133}"/>
              </a:ext>
            </a:extLst>
          </p:cNvPr>
          <p:cNvSpPr/>
          <p:nvPr/>
        </p:nvSpPr>
        <p:spPr>
          <a:xfrm>
            <a:off x="2930858" y="3837839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06374741-3DFC-9E8A-62A3-6AD07A65CEAE}"/>
              </a:ext>
            </a:extLst>
          </p:cNvPr>
          <p:cNvSpPr/>
          <p:nvPr/>
        </p:nvSpPr>
        <p:spPr>
          <a:xfrm>
            <a:off x="1028906" y="4313327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3303F9B2-795E-7278-2D0F-FFA10442C717}"/>
              </a:ext>
            </a:extLst>
          </p:cNvPr>
          <p:cNvSpPr/>
          <p:nvPr/>
        </p:nvSpPr>
        <p:spPr>
          <a:xfrm>
            <a:off x="1504394" y="4313327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A3903510-90FD-8B68-D9A6-23243A67C8A1}"/>
              </a:ext>
            </a:extLst>
          </p:cNvPr>
          <p:cNvSpPr/>
          <p:nvPr/>
        </p:nvSpPr>
        <p:spPr>
          <a:xfrm>
            <a:off x="1979882" y="4313327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142B8405-8490-2CEF-1C43-5A4F60A4D93B}"/>
              </a:ext>
            </a:extLst>
          </p:cNvPr>
          <p:cNvSpPr/>
          <p:nvPr/>
        </p:nvSpPr>
        <p:spPr>
          <a:xfrm>
            <a:off x="2455370" y="4313327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180D1026-3B2D-B03D-ADFD-7F51463C7E46}"/>
              </a:ext>
            </a:extLst>
          </p:cNvPr>
          <p:cNvSpPr/>
          <p:nvPr/>
        </p:nvSpPr>
        <p:spPr>
          <a:xfrm>
            <a:off x="2930858" y="4313327"/>
            <a:ext cx="475488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777961AF-E23D-9F42-19E4-86349CBE1348}"/>
              </a:ext>
            </a:extLst>
          </p:cNvPr>
          <p:cNvSpPr/>
          <p:nvPr/>
        </p:nvSpPr>
        <p:spPr>
          <a:xfrm>
            <a:off x="1065482" y="2447951"/>
            <a:ext cx="402336" cy="402336"/>
          </a:xfrm>
          <a:prstGeom prst="roundRect">
            <a:avLst>
              <a:gd name="adj" fmla="val 909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EA03448E-43E7-0460-0E86-EF745DEED273}"/>
              </a:ext>
            </a:extLst>
          </p:cNvPr>
          <p:cNvSpPr/>
          <p:nvPr/>
        </p:nvSpPr>
        <p:spPr>
          <a:xfrm>
            <a:off x="1028906" y="24113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R</a:t>
            </a:r>
            <a:endParaRPr lang="en-US" sz="140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851C7ACA-D9EB-92C9-1C1E-7462DCC98E80}"/>
              </a:ext>
            </a:extLst>
          </p:cNvPr>
          <p:cNvSpPr/>
          <p:nvPr/>
        </p:nvSpPr>
        <p:spPr>
          <a:xfrm>
            <a:off x="2967434" y="2447951"/>
            <a:ext cx="402336" cy="402336"/>
          </a:xfrm>
          <a:prstGeom prst="roundRect">
            <a:avLst>
              <a:gd name="adj" fmla="val 909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3B3BD030-C182-A722-DB58-FB602C177EC9}"/>
              </a:ext>
            </a:extLst>
          </p:cNvPr>
          <p:cNvSpPr/>
          <p:nvPr/>
        </p:nvSpPr>
        <p:spPr>
          <a:xfrm>
            <a:off x="2930858" y="241137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G</a:t>
            </a:r>
            <a:endParaRPr lang="en-US" sz="1400" dirty="0"/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2E68C1C5-03AC-00FB-1D7F-2421EFEB5339}"/>
              </a:ext>
            </a:extLst>
          </p:cNvPr>
          <p:cNvSpPr/>
          <p:nvPr/>
        </p:nvSpPr>
        <p:spPr>
          <a:xfrm>
            <a:off x="1065482" y="4349903"/>
            <a:ext cx="402336" cy="402336"/>
          </a:xfrm>
          <a:prstGeom prst="roundRect">
            <a:avLst>
              <a:gd name="adj" fmla="val 909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B1441CB1-8052-7AF9-3DAF-EA2C339FCD13}"/>
              </a:ext>
            </a:extLst>
          </p:cNvPr>
          <p:cNvSpPr/>
          <p:nvPr/>
        </p:nvSpPr>
        <p:spPr>
          <a:xfrm>
            <a:off x="1028906" y="431332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Y</a:t>
            </a:r>
            <a:endParaRPr lang="en-US" sz="1400" dirty="0"/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6E74C6CB-3929-5276-3455-396FC72BB6F9}"/>
              </a:ext>
            </a:extLst>
          </p:cNvPr>
          <p:cNvSpPr/>
          <p:nvPr/>
        </p:nvSpPr>
        <p:spPr>
          <a:xfrm>
            <a:off x="2491946" y="4349903"/>
            <a:ext cx="402336" cy="402336"/>
          </a:xfrm>
          <a:prstGeom prst="roundRect">
            <a:avLst>
              <a:gd name="adj" fmla="val 909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C787AAAA-6AD1-7AE6-BDB6-C8DAD69F2C6E}"/>
              </a:ext>
            </a:extLst>
          </p:cNvPr>
          <p:cNvSpPr/>
          <p:nvPr/>
        </p:nvSpPr>
        <p:spPr>
          <a:xfrm>
            <a:off x="2455370" y="431332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1D956A-B050-5DB3-35AF-63A31D9EC4E8}"/>
              </a:ext>
            </a:extLst>
          </p:cNvPr>
          <p:cNvSpPr txBox="1"/>
          <p:nvPr/>
        </p:nvSpPr>
        <p:spPr>
          <a:xfrm>
            <a:off x="728524" y="5053886"/>
            <a:ext cx="3218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주유소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: (2,2)  (1,3)   </a:t>
            </a:r>
          </a:p>
          <a:p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REFUEL 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행동 추가 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(action=6)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F30A03-4657-8542-4A86-F384E8C37EDF}"/>
              </a:ext>
            </a:extLst>
          </p:cNvPr>
          <p:cNvSpPr txBox="1"/>
          <p:nvPr/>
        </p:nvSpPr>
        <p:spPr>
          <a:xfrm>
            <a:off x="1942768" y="3436848"/>
            <a:ext cx="403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🛢️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2E5BCA-AA71-2506-28B5-62467D488E5E}"/>
              </a:ext>
            </a:extLst>
          </p:cNvPr>
          <p:cNvSpPr txBox="1"/>
          <p:nvPr/>
        </p:nvSpPr>
        <p:spPr>
          <a:xfrm>
            <a:off x="2454832" y="2956105"/>
            <a:ext cx="403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🛢️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C2102D-3A62-C3CD-1F99-51F4027DAE19}"/>
              </a:ext>
            </a:extLst>
          </p:cNvPr>
          <p:cNvSpPr txBox="1"/>
          <p:nvPr/>
        </p:nvSpPr>
        <p:spPr>
          <a:xfrm>
            <a:off x="4125735" y="2295190"/>
            <a:ext cx="49538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• 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이동 행동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(South/North/East/West)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을 수행할 때마다 연료 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1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을 차감</a:t>
            </a:r>
            <a:endParaRPr lang="en-US" altLang="ko-KR" dirty="0">
              <a:latin typeface="서강체" pitchFamily="50" charset="-127"/>
              <a:ea typeface="서강체" pitchFamily="50" charset="-127"/>
            </a:endParaRPr>
          </a:p>
          <a:p>
            <a:endParaRPr lang="ko-KR" altLang="en-US" dirty="0">
              <a:latin typeface="서강체" pitchFamily="50" charset="-127"/>
              <a:ea typeface="서강체" pitchFamily="50" charset="-127"/>
            </a:endParaRPr>
          </a:p>
          <a:p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• REFUEL(action=6)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은 연료 조건에서만 선택 가능</a:t>
            </a:r>
            <a:endParaRPr lang="en-US" altLang="ko-KR" dirty="0">
              <a:latin typeface="서강체" pitchFamily="50" charset="-127"/>
              <a:ea typeface="서강체" pitchFamily="50" charset="-127"/>
            </a:endParaRPr>
          </a:p>
          <a:p>
            <a:endParaRPr lang="ko-KR" altLang="en-US" dirty="0">
              <a:latin typeface="서강체" pitchFamily="50" charset="-127"/>
              <a:ea typeface="서강체" pitchFamily="50" charset="-127"/>
            </a:endParaRPr>
          </a:p>
          <a:p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• 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주유소 위치에서 연료가 부족한 경우에만 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refuel 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성공으로 처리</a:t>
            </a:r>
            <a:endParaRPr lang="en-US" altLang="ko-KR" dirty="0">
              <a:latin typeface="서강체" pitchFamily="50" charset="-127"/>
              <a:ea typeface="서강체" pitchFamily="50" charset="-127"/>
            </a:endParaRPr>
          </a:p>
          <a:p>
            <a:endParaRPr lang="ko-KR" altLang="en-US" dirty="0">
              <a:latin typeface="서강체" pitchFamily="50" charset="-127"/>
              <a:ea typeface="서강체" pitchFamily="50" charset="-127"/>
            </a:endParaRPr>
          </a:p>
          <a:p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• 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연료가 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0 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이하가 되면 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-15 </a:t>
            </a:r>
            <a:r>
              <a:rPr lang="ko-KR" altLang="en-US" dirty="0" err="1">
                <a:latin typeface="서강체" pitchFamily="50" charset="-127"/>
                <a:ea typeface="서강체" pitchFamily="50" charset="-127"/>
              </a:rPr>
              <a:t>패널티와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 함께 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episode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가 종료</a:t>
            </a:r>
            <a:endParaRPr lang="en-US" altLang="ko-KR" dirty="0">
              <a:latin typeface="서강체" pitchFamily="50" charset="-127"/>
              <a:ea typeface="서강체" pitchFamily="50" charset="-127"/>
            </a:endParaRPr>
          </a:p>
          <a:p>
            <a:endParaRPr lang="ko-KR" altLang="en-US" dirty="0">
              <a:latin typeface="서강체" pitchFamily="50" charset="-127"/>
              <a:ea typeface="서강체" pitchFamily="50" charset="-127"/>
            </a:endParaRPr>
          </a:p>
          <a:p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• 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목표까지의 맨해튼 거리 변화에 따라 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±0.4·Δd shaping reward</a:t>
            </a:r>
            <a:r>
              <a:rPr lang="ko-KR" altLang="en-US" dirty="0">
                <a:latin typeface="서강체" pitchFamily="50" charset="-127"/>
                <a:ea typeface="서강체" pitchFamily="50" charset="-127"/>
              </a:rPr>
              <a:t>를 부여</a:t>
            </a:r>
            <a:r>
              <a:rPr lang="en-US" altLang="ko-KR" dirty="0">
                <a:latin typeface="서강체" pitchFamily="50" charset="-127"/>
                <a:ea typeface="서강체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7509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E5A38-6229-9C9F-A859-D9B33A05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094CE089-2A2D-23D5-60E0-3ACD6010A886}"/>
              </a:ext>
            </a:extLst>
          </p:cNvPr>
          <p:cNvSpPr/>
          <p:nvPr/>
        </p:nvSpPr>
        <p:spPr>
          <a:xfrm flipV="1">
            <a:off x="422559" y="1432881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83139-2593-DF6D-6D92-CB6FFD7F1842}"/>
              </a:ext>
            </a:extLst>
          </p:cNvPr>
          <p:cNvSpPr txBox="1"/>
          <p:nvPr/>
        </p:nvSpPr>
        <p:spPr>
          <a:xfrm>
            <a:off x="422560" y="392790"/>
            <a:ext cx="8277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2. </a:t>
            </a:r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환경 설계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7F1CBB-9E62-55A7-AC75-F94AAD1018E5}"/>
              </a:ext>
            </a:extLst>
          </p:cNvPr>
          <p:cNvSpPr txBox="1"/>
          <p:nvPr/>
        </p:nvSpPr>
        <p:spPr>
          <a:xfrm>
            <a:off x="422558" y="1846713"/>
            <a:ext cx="5171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서강체" pitchFamily="50" charset="-127"/>
                <a:ea typeface="서강체" pitchFamily="50" charset="-127"/>
              </a:rPr>
              <a:t>State · Action · Reward </a:t>
            </a:r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설계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ED24D6-1BCB-FBB8-1D9D-AA5A51D0BBA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2" name="Shape 3">
            <a:extLst>
              <a:ext uri="{FF2B5EF4-FFF2-40B4-BE49-F238E27FC236}">
                <a16:creationId xmlns:a16="http://schemas.microsoft.com/office/drawing/2014/main" id="{A9AC9728-D161-027D-5533-1B0C513787AE}"/>
              </a:ext>
            </a:extLst>
          </p:cNvPr>
          <p:cNvSpPr/>
          <p:nvPr/>
        </p:nvSpPr>
        <p:spPr>
          <a:xfrm>
            <a:off x="470080" y="2518691"/>
            <a:ext cx="2606040" cy="3248603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ea typeface="SOGANG UNIVERSITY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CB1CC8AC-B0FD-1E28-5687-33C92FBD1B8E}"/>
              </a:ext>
            </a:extLst>
          </p:cNvPr>
          <p:cNvSpPr/>
          <p:nvPr/>
        </p:nvSpPr>
        <p:spPr>
          <a:xfrm>
            <a:off x="652960" y="2582699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latin typeface="+mj-ea"/>
                <a:ea typeface="+mj-ea"/>
              </a:rPr>
              <a:t>State</a:t>
            </a:r>
            <a:endParaRPr lang="en-US" dirty="0">
              <a:latin typeface="+mj-ea"/>
              <a:ea typeface="+mj-ea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45A604B-5922-8DF3-CF09-709692EE0952}"/>
              </a:ext>
            </a:extLst>
          </p:cNvPr>
          <p:cNvSpPr/>
          <p:nvPr/>
        </p:nvSpPr>
        <p:spPr>
          <a:xfrm>
            <a:off x="652960" y="2975891"/>
            <a:ext cx="22860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ea typeface="SOGANG UNIVERSITY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B05BDAEE-6C2F-7A00-0809-25958FB6286C}"/>
              </a:ext>
            </a:extLst>
          </p:cNvPr>
          <p:cNvSpPr/>
          <p:nvPr/>
        </p:nvSpPr>
        <p:spPr>
          <a:xfrm>
            <a:off x="652960" y="3067331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6A34A"/>
                </a:solidFill>
                <a:ea typeface="SOGANG UNIVERSITY"/>
              </a:rPr>
              <a:t>NONE 조건</a:t>
            </a:r>
            <a:endParaRPr lang="en-US" sz="1100" dirty="0">
              <a:ea typeface="SOGANG UNIVERSITY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6E4F941-9758-FEA6-28C7-1CECC7247FC8}"/>
              </a:ext>
            </a:extLst>
          </p:cNvPr>
          <p:cNvSpPr/>
          <p:nvPr/>
        </p:nvSpPr>
        <p:spPr>
          <a:xfrm>
            <a:off x="652960" y="3341651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  <a:ea typeface="SOGANG UNIVERSITY"/>
              </a:rPr>
              <a:t>base_obs  (0~499)</a:t>
            </a:r>
            <a:endParaRPr lang="en-US" sz="1050" dirty="0">
              <a:ea typeface="SOGANG UNIVERSITY"/>
            </a:endParaRPr>
          </a:p>
          <a:p>
            <a:r>
              <a:rPr lang="en-US" sz="1050" dirty="0">
                <a:solidFill>
                  <a:srgbClr val="475569"/>
                </a:solidFill>
                <a:ea typeface="SOGANG UNIVERSITY"/>
              </a:rPr>
              <a:t>500 states</a:t>
            </a:r>
            <a:endParaRPr lang="en-US" sz="1050" dirty="0">
              <a:ea typeface="SOGANG UNIVERSITY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09D3906-4975-745E-885A-2FC1897F3519}"/>
              </a:ext>
            </a:extLst>
          </p:cNvPr>
          <p:cNvSpPr/>
          <p:nvPr/>
        </p:nvSpPr>
        <p:spPr>
          <a:xfrm>
            <a:off x="652960" y="4073171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2563EB"/>
                </a:solidFill>
                <a:ea typeface="SOGANG UNIVERSITY"/>
              </a:rPr>
              <a:t>FUEL 조건</a:t>
            </a:r>
            <a:endParaRPr lang="en-US" sz="1100" dirty="0">
              <a:ea typeface="SOGANG UNIVERSITY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16C3F2B-CB0D-C21B-C8B7-FD1C14F55694}"/>
              </a:ext>
            </a:extLst>
          </p:cNvPr>
          <p:cNvSpPr/>
          <p:nvPr/>
        </p:nvSpPr>
        <p:spPr>
          <a:xfrm>
            <a:off x="652960" y="4347491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  <a:ea typeface="SOGANG UNIVERSITY"/>
              </a:rPr>
              <a:t>base_obs × (fuel_level)</a:t>
            </a:r>
            <a:endParaRPr lang="en-US" sz="1050" dirty="0">
              <a:ea typeface="SOGANG UNIVERSITY"/>
            </a:endParaRPr>
          </a:p>
          <a:p>
            <a:r>
              <a:rPr lang="en-US" sz="1050" dirty="0">
                <a:solidFill>
                  <a:srgbClr val="475569"/>
                </a:solidFill>
                <a:ea typeface="SOGANG UNIVERSITY"/>
              </a:rPr>
              <a:t>= 500 × 51</a:t>
            </a:r>
            <a:endParaRPr lang="en-US" sz="1050" dirty="0">
              <a:ea typeface="SOGANG UNIVERSITY"/>
            </a:endParaRPr>
          </a:p>
          <a:p>
            <a:r>
              <a:rPr lang="en-US" sz="1050" dirty="0">
                <a:solidFill>
                  <a:srgbClr val="475569"/>
                </a:solidFill>
                <a:ea typeface="SOGANG UNIVERSITY"/>
              </a:rPr>
              <a:t>= 25,500 states</a:t>
            </a:r>
            <a:endParaRPr lang="en-US" sz="1050" dirty="0">
              <a:ea typeface="SOGANG UNIVERSITY"/>
            </a:endParaRPr>
          </a:p>
          <a:p>
            <a:endParaRPr lang="en-US" sz="1050" dirty="0">
              <a:ea typeface="SOGANG UNIVERSITY"/>
            </a:endParaRPr>
          </a:p>
          <a:p>
            <a:r>
              <a:rPr lang="en-US" sz="1050" dirty="0">
                <a:solidFill>
                  <a:srgbClr val="475569"/>
                </a:solidFill>
                <a:ea typeface="SOGANG UNIVERSITY"/>
              </a:rPr>
              <a:t>fuel_level: 0~50</a:t>
            </a:r>
            <a:endParaRPr lang="en-US" sz="1050" dirty="0">
              <a:ea typeface="SOGANG UNIVERSITY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9B30A19-DDD7-1E6D-25F2-3E4C4B9FCFC1}"/>
              </a:ext>
            </a:extLst>
          </p:cNvPr>
          <p:cNvSpPr/>
          <p:nvPr/>
        </p:nvSpPr>
        <p:spPr>
          <a:xfrm>
            <a:off x="3259000" y="2518691"/>
            <a:ext cx="2651760" cy="3248603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ea typeface="SOGANG UNIVERSITY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E2ED0EF-0578-17EF-4FFD-6E68522E6F93}"/>
              </a:ext>
            </a:extLst>
          </p:cNvPr>
          <p:cNvSpPr/>
          <p:nvPr/>
        </p:nvSpPr>
        <p:spPr>
          <a:xfrm>
            <a:off x="3441880" y="2582699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latin typeface="+mj-ea"/>
                <a:ea typeface="+mj-ea"/>
              </a:rPr>
              <a:t>Action</a:t>
            </a:r>
            <a:endParaRPr lang="en-US" dirty="0">
              <a:latin typeface="+mj-ea"/>
              <a:ea typeface="+mj-ea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0C910FEE-1892-8AE9-5B5A-7201B25FFA20}"/>
              </a:ext>
            </a:extLst>
          </p:cNvPr>
          <p:cNvSpPr/>
          <p:nvPr/>
        </p:nvSpPr>
        <p:spPr>
          <a:xfrm>
            <a:off x="3441880" y="2975891"/>
            <a:ext cx="22860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ea typeface="SOGANG UNIVERSITY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E9BEC66-A238-68E7-4F52-37D1A397EF7D}"/>
              </a:ext>
            </a:extLst>
          </p:cNvPr>
          <p:cNvSpPr/>
          <p:nvPr/>
        </p:nvSpPr>
        <p:spPr>
          <a:xfrm>
            <a:off x="3441880" y="3067331"/>
            <a:ext cx="2743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+mn-ea"/>
                <a:ea typeface="SOGANG UNIVERSITY"/>
              </a:rPr>
              <a:t>0</a:t>
            </a:r>
            <a:endParaRPr lang="en-US" sz="1000" dirty="0">
              <a:latin typeface="+mn-ea"/>
              <a:ea typeface="SOGANG UNIVERSITY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521E116-C37E-4014-5968-7CBACCE41C32}"/>
              </a:ext>
            </a:extLst>
          </p:cNvPr>
          <p:cNvSpPr/>
          <p:nvPr/>
        </p:nvSpPr>
        <p:spPr>
          <a:xfrm>
            <a:off x="3780208" y="3067331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  <a:ea typeface="SOGANG UNIVERSITY"/>
              </a:rPr>
              <a:t>south (남)</a:t>
            </a:r>
            <a:endParaRPr lang="en-US" sz="1050" dirty="0">
              <a:ea typeface="SOGANG UNIVERSITY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927311BA-333D-37A2-678A-E4500F1BC472}"/>
              </a:ext>
            </a:extLst>
          </p:cNvPr>
          <p:cNvSpPr/>
          <p:nvPr/>
        </p:nvSpPr>
        <p:spPr>
          <a:xfrm>
            <a:off x="3441880" y="3405659"/>
            <a:ext cx="2743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+mn-ea"/>
                <a:ea typeface="SOGANG UNIVERSITY"/>
              </a:rPr>
              <a:t>1</a:t>
            </a:r>
            <a:endParaRPr lang="en-US" sz="1000" dirty="0">
              <a:latin typeface="+mn-ea"/>
              <a:ea typeface="SOGANG UNIVERSITY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00AB2DC-54EA-2917-4C39-14F82BE1B269}"/>
              </a:ext>
            </a:extLst>
          </p:cNvPr>
          <p:cNvSpPr/>
          <p:nvPr/>
        </p:nvSpPr>
        <p:spPr>
          <a:xfrm>
            <a:off x="3780208" y="3405659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  <a:ea typeface="SOGANG UNIVERSITY"/>
              </a:rPr>
              <a:t>north (북)</a:t>
            </a:r>
            <a:endParaRPr lang="en-US" sz="1050" dirty="0">
              <a:ea typeface="SOGANG UNIVERSITY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F9A23258-E656-0D53-CCF5-E3CEE167E3D7}"/>
              </a:ext>
            </a:extLst>
          </p:cNvPr>
          <p:cNvSpPr/>
          <p:nvPr/>
        </p:nvSpPr>
        <p:spPr>
          <a:xfrm>
            <a:off x="3441880" y="3743987"/>
            <a:ext cx="2743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+mn-ea"/>
                <a:ea typeface="SOGANG UNIVERSITY"/>
              </a:rPr>
              <a:t>2</a:t>
            </a:r>
            <a:endParaRPr lang="en-US" sz="1000" dirty="0">
              <a:latin typeface="+mn-ea"/>
              <a:ea typeface="SOGANG UNIVERSITY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4BEB7B6F-0DD2-CE7C-E7CC-75069490D9E8}"/>
              </a:ext>
            </a:extLst>
          </p:cNvPr>
          <p:cNvSpPr/>
          <p:nvPr/>
        </p:nvSpPr>
        <p:spPr>
          <a:xfrm>
            <a:off x="3780208" y="3743987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  <a:ea typeface="SOGANG UNIVERSITY"/>
              </a:rPr>
              <a:t>east  (동)</a:t>
            </a:r>
            <a:endParaRPr lang="en-US" sz="1050" dirty="0">
              <a:ea typeface="SOGANG UNIVERSITY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AAEA7E24-AD9A-F8D8-946F-A56022225863}"/>
              </a:ext>
            </a:extLst>
          </p:cNvPr>
          <p:cNvSpPr/>
          <p:nvPr/>
        </p:nvSpPr>
        <p:spPr>
          <a:xfrm>
            <a:off x="3441880" y="4082315"/>
            <a:ext cx="2743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+mn-ea"/>
                <a:ea typeface="SOGANG UNIVERSITY"/>
              </a:rPr>
              <a:t>3</a:t>
            </a:r>
            <a:endParaRPr lang="en-US" sz="1000" dirty="0">
              <a:latin typeface="+mn-ea"/>
              <a:ea typeface="SOGANG UNIVERSITY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5BCF8069-F8C1-1381-FF87-55D48F1B43E3}"/>
              </a:ext>
            </a:extLst>
          </p:cNvPr>
          <p:cNvSpPr/>
          <p:nvPr/>
        </p:nvSpPr>
        <p:spPr>
          <a:xfrm>
            <a:off x="3780208" y="4082315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  <a:ea typeface="SOGANG UNIVERSITY"/>
              </a:rPr>
              <a:t>west  (서)</a:t>
            </a:r>
            <a:endParaRPr lang="en-US" sz="1050" dirty="0">
              <a:ea typeface="SOGANG UNIVERSITY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00BE0830-C1FE-95F3-E021-9DC08A726E36}"/>
              </a:ext>
            </a:extLst>
          </p:cNvPr>
          <p:cNvSpPr/>
          <p:nvPr/>
        </p:nvSpPr>
        <p:spPr>
          <a:xfrm>
            <a:off x="3441880" y="4420643"/>
            <a:ext cx="2743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+mn-ea"/>
                <a:ea typeface="SOGANG UNIVERSITY"/>
              </a:rPr>
              <a:t>4</a:t>
            </a:r>
            <a:endParaRPr lang="en-US" sz="1000" dirty="0">
              <a:latin typeface="+mn-ea"/>
              <a:ea typeface="SOGANG UNIVERSITY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F3095F7B-2FB3-A59F-670D-1AD453CC1E76}"/>
              </a:ext>
            </a:extLst>
          </p:cNvPr>
          <p:cNvSpPr/>
          <p:nvPr/>
        </p:nvSpPr>
        <p:spPr>
          <a:xfrm>
            <a:off x="3780208" y="4420643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  <a:ea typeface="SOGANG UNIVERSITY"/>
              </a:rPr>
              <a:t>PICKUP</a:t>
            </a:r>
            <a:endParaRPr lang="en-US" sz="1050" dirty="0">
              <a:ea typeface="SOGANG UNIVERSITY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7698E51E-F8A0-34AB-CDD8-6F86D0D6C073}"/>
              </a:ext>
            </a:extLst>
          </p:cNvPr>
          <p:cNvSpPr/>
          <p:nvPr/>
        </p:nvSpPr>
        <p:spPr>
          <a:xfrm>
            <a:off x="3441880" y="4758971"/>
            <a:ext cx="2743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+mn-ea"/>
                <a:ea typeface="SOGANG UNIVERSITY"/>
              </a:rPr>
              <a:t>5</a:t>
            </a:r>
            <a:endParaRPr lang="en-US" sz="1000" dirty="0">
              <a:latin typeface="+mn-ea"/>
              <a:ea typeface="SOGANG UNIVERSITY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BF402A02-4FFF-6168-C3E5-6D8CD4E46964}"/>
              </a:ext>
            </a:extLst>
          </p:cNvPr>
          <p:cNvSpPr/>
          <p:nvPr/>
        </p:nvSpPr>
        <p:spPr>
          <a:xfrm>
            <a:off x="3780208" y="4758971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475569"/>
                </a:solidFill>
                <a:ea typeface="SOGANG UNIVERSITY"/>
              </a:rPr>
              <a:t>DROPOFF</a:t>
            </a:r>
            <a:endParaRPr lang="en-US" sz="1050" dirty="0">
              <a:ea typeface="SOGANG UNIVERSITY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3750CB17-E120-A551-8003-0741734D007A}"/>
              </a:ext>
            </a:extLst>
          </p:cNvPr>
          <p:cNvSpPr/>
          <p:nvPr/>
        </p:nvSpPr>
        <p:spPr>
          <a:xfrm>
            <a:off x="3441880" y="5097299"/>
            <a:ext cx="27432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+mn-ea"/>
                <a:ea typeface="SOGANG UNIVERSITY"/>
              </a:rPr>
              <a:t>6</a:t>
            </a:r>
            <a:endParaRPr lang="en-US" sz="1000" dirty="0">
              <a:latin typeface="+mn-ea"/>
              <a:ea typeface="SOGANG UNIVERSITY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570934D7-5C1B-E27C-EF3B-AB1D7E3E58ED}"/>
              </a:ext>
            </a:extLst>
          </p:cNvPr>
          <p:cNvSpPr/>
          <p:nvPr/>
        </p:nvSpPr>
        <p:spPr>
          <a:xfrm>
            <a:off x="3780208" y="5097299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2563EB"/>
                </a:solidFill>
                <a:ea typeface="SOGANG UNIVERSITY"/>
              </a:rPr>
              <a:t>REFUEL  </a:t>
            </a:r>
            <a:r>
              <a:rPr lang="en-US" sz="1050" b="1" dirty="0" err="1">
                <a:solidFill>
                  <a:srgbClr val="2563EB"/>
                </a:solidFill>
                <a:ea typeface="SOGANG UNIVERSITY"/>
              </a:rPr>
              <a:t>추가</a:t>
            </a:r>
            <a:endParaRPr lang="en-US" sz="1050" dirty="0">
              <a:ea typeface="SOGANG UNIVERSITY"/>
            </a:endParaRPr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095A1636-B74E-71EC-DC79-53BA5E0ADCAA}"/>
              </a:ext>
            </a:extLst>
          </p:cNvPr>
          <p:cNvSpPr/>
          <p:nvPr/>
        </p:nvSpPr>
        <p:spPr>
          <a:xfrm>
            <a:off x="6093640" y="2518691"/>
            <a:ext cx="2606040" cy="3248603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ea typeface="SOGANG UNIVERSITY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C10B02F6-5F1B-B3C8-35C3-14AFB3EE31A1}"/>
              </a:ext>
            </a:extLst>
          </p:cNvPr>
          <p:cNvSpPr/>
          <p:nvPr/>
        </p:nvSpPr>
        <p:spPr>
          <a:xfrm>
            <a:off x="6276520" y="2582699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latin typeface="+mj-ea"/>
                <a:ea typeface="+mj-ea"/>
              </a:rPr>
              <a:t>Reward</a:t>
            </a:r>
            <a:endParaRPr lang="en-US" dirty="0">
              <a:latin typeface="+mj-ea"/>
              <a:ea typeface="+mj-ea"/>
            </a:endParaRPr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5C61FC42-0252-479E-62B9-FBB4C8CA4C63}"/>
              </a:ext>
            </a:extLst>
          </p:cNvPr>
          <p:cNvSpPr/>
          <p:nvPr/>
        </p:nvSpPr>
        <p:spPr>
          <a:xfrm>
            <a:off x="6276520" y="2975891"/>
            <a:ext cx="22860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ea typeface="SOGANG UNIVERSITY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C3AA89C8-71EF-6363-C4D3-1FCDF1D703A8}"/>
              </a:ext>
            </a:extLst>
          </p:cNvPr>
          <p:cNvSpPr/>
          <p:nvPr/>
        </p:nvSpPr>
        <p:spPr>
          <a:xfrm>
            <a:off x="6276520" y="3067331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475569"/>
                </a:solidFill>
                <a:ea typeface="SOGANG UNIVERSITY"/>
              </a:rPr>
              <a:t>−1</a:t>
            </a:r>
            <a:endParaRPr lang="en-US" sz="1150" dirty="0">
              <a:ea typeface="SOGANG UNIVERSITY"/>
            </a:endParaRP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CC727E06-9FF4-9D11-6F48-BBFD14870395}"/>
              </a:ext>
            </a:extLst>
          </p:cNvPr>
          <p:cNvSpPr/>
          <p:nvPr/>
        </p:nvSpPr>
        <p:spPr>
          <a:xfrm>
            <a:off x="7309792" y="3067331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75569"/>
                </a:solidFill>
                <a:ea typeface="SOGANG UNIVERSITY"/>
              </a:rPr>
              <a:t>매 스텝 패널티</a:t>
            </a:r>
            <a:endParaRPr lang="en-US" sz="1000" dirty="0">
              <a:ea typeface="SOGANG UNIVERSITY"/>
            </a:endParaRPr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2EB5DBAB-3E83-7B76-97EA-CA8E083F7F95}"/>
              </a:ext>
            </a:extLst>
          </p:cNvPr>
          <p:cNvSpPr/>
          <p:nvPr/>
        </p:nvSpPr>
        <p:spPr>
          <a:xfrm>
            <a:off x="6276520" y="3478515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16A34A"/>
                </a:solidFill>
                <a:ea typeface="SOGANG UNIVERSITY"/>
              </a:rPr>
              <a:t>+20</a:t>
            </a:r>
            <a:endParaRPr lang="en-US" sz="1150" dirty="0">
              <a:ea typeface="SOGANG UNIVERSITY"/>
            </a:endParaRP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57D5B8A9-AA28-9DAA-4338-92850F493DFF}"/>
              </a:ext>
            </a:extLst>
          </p:cNvPr>
          <p:cNvSpPr/>
          <p:nvPr/>
        </p:nvSpPr>
        <p:spPr>
          <a:xfrm>
            <a:off x="7309792" y="3478515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75569"/>
                </a:solidFill>
                <a:ea typeface="SOGANG UNIVERSITY"/>
              </a:rPr>
              <a:t>하차 성공</a:t>
            </a:r>
            <a:endParaRPr lang="en-US" sz="1000" dirty="0">
              <a:ea typeface="SOGANG UNIVERSITY"/>
            </a:endParaRPr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E59E6134-C3B1-F0C5-35C8-610FCFE55813}"/>
              </a:ext>
            </a:extLst>
          </p:cNvPr>
          <p:cNvSpPr/>
          <p:nvPr/>
        </p:nvSpPr>
        <p:spPr>
          <a:xfrm>
            <a:off x="6276520" y="3890291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DC2626"/>
                </a:solidFill>
                <a:ea typeface="SOGANG UNIVERSITY"/>
              </a:rPr>
              <a:t>−10</a:t>
            </a:r>
            <a:endParaRPr lang="en-US" sz="1150" dirty="0">
              <a:ea typeface="SOGANG UNIVERSITY"/>
            </a:endParaRP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228C12D7-0FB6-9293-F89D-1E7D8E81763C}"/>
              </a:ext>
            </a:extLst>
          </p:cNvPr>
          <p:cNvSpPr/>
          <p:nvPr/>
        </p:nvSpPr>
        <p:spPr>
          <a:xfrm>
            <a:off x="7309792" y="3890291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75569"/>
                </a:solidFill>
                <a:ea typeface="SOGANG UNIVERSITY"/>
              </a:rPr>
              <a:t>잘못된 탑승/하차</a:t>
            </a:r>
            <a:endParaRPr lang="en-US" sz="1000" dirty="0">
              <a:ea typeface="SOGANG UNIVERSITY"/>
            </a:endParaRPr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AB8A6D89-1A97-F2E2-F251-816869413D49}"/>
              </a:ext>
            </a:extLst>
          </p:cNvPr>
          <p:cNvSpPr/>
          <p:nvPr/>
        </p:nvSpPr>
        <p:spPr>
          <a:xfrm>
            <a:off x="6276520" y="43683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DC2626"/>
                </a:solidFill>
                <a:ea typeface="SOGANG UNIVERSITY"/>
              </a:rPr>
              <a:t>−10</a:t>
            </a:r>
            <a:endParaRPr lang="en-US" sz="1150" dirty="0">
              <a:ea typeface="SOGANG UNIVERSITY"/>
            </a:endParaRPr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5DEE6BF5-8ED2-1FFD-28A5-B29EFB378964}"/>
              </a:ext>
            </a:extLst>
          </p:cNvPr>
          <p:cNvSpPr/>
          <p:nvPr/>
        </p:nvSpPr>
        <p:spPr>
          <a:xfrm>
            <a:off x="7309792" y="43683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75569"/>
                </a:solidFill>
                <a:ea typeface="SOGANG UNIVERSITY"/>
              </a:rPr>
              <a:t>잘못된 주유 시도</a:t>
            </a:r>
            <a:endParaRPr lang="en-US" sz="1000" dirty="0">
              <a:ea typeface="SOGANG UNIVERSITY"/>
            </a:endParaRPr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E35AEA28-5EF5-EF58-A7F7-051A97555C95}"/>
              </a:ext>
            </a:extLst>
          </p:cNvPr>
          <p:cNvSpPr/>
          <p:nvPr/>
        </p:nvSpPr>
        <p:spPr>
          <a:xfrm>
            <a:off x="6276520" y="4846341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DC2626"/>
                </a:solidFill>
                <a:ea typeface="SOGANG UNIVERSITY"/>
              </a:rPr>
              <a:t>−15</a:t>
            </a:r>
            <a:endParaRPr lang="en-US" sz="1150" dirty="0">
              <a:ea typeface="SOGANG UNIVERSITY"/>
            </a:endParaRPr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7BAC0AF1-ED1B-5B30-CDF6-D6325FE526B5}"/>
              </a:ext>
            </a:extLst>
          </p:cNvPr>
          <p:cNvSpPr/>
          <p:nvPr/>
        </p:nvSpPr>
        <p:spPr>
          <a:xfrm>
            <a:off x="7309792" y="4846341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75569"/>
                </a:solidFill>
                <a:ea typeface="SOGANG UNIVERSITY"/>
              </a:rPr>
              <a:t>연료 소진 종료</a:t>
            </a:r>
            <a:endParaRPr lang="en-US" sz="1000" dirty="0">
              <a:ea typeface="SOGANG UNIVERSITY"/>
            </a:endParaRPr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BCEEE75F-80BB-EBBE-B195-906B8FB11F9A}"/>
              </a:ext>
            </a:extLst>
          </p:cNvPr>
          <p:cNvSpPr/>
          <p:nvPr/>
        </p:nvSpPr>
        <p:spPr>
          <a:xfrm>
            <a:off x="6276520" y="522581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 dirty="0">
                <a:solidFill>
                  <a:srgbClr val="2563EB"/>
                </a:solidFill>
                <a:ea typeface="SOGANG UNIVERSITY"/>
              </a:rPr>
              <a:t>±0.4·Δd</a:t>
            </a:r>
            <a:endParaRPr lang="en-US" sz="1150" dirty="0">
              <a:ea typeface="SOGANG UNIVERSITY"/>
            </a:endParaRPr>
          </a:p>
        </p:txBody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6BAB0640-0ADC-FA98-7C4D-EFA98F92A1EC}"/>
              </a:ext>
            </a:extLst>
          </p:cNvPr>
          <p:cNvSpPr/>
          <p:nvPr/>
        </p:nvSpPr>
        <p:spPr>
          <a:xfrm>
            <a:off x="7309792" y="522581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475569"/>
                </a:solidFill>
                <a:ea typeface="SOGANG UNIVERSITY"/>
              </a:rPr>
              <a:t>거리 shaping</a:t>
            </a:r>
            <a:endParaRPr lang="en-US" sz="1000" dirty="0">
              <a:ea typeface="SOGANG UNIVERSITY"/>
            </a:endParaRPr>
          </a:p>
        </p:txBody>
      </p:sp>
    </p:spTree>
    <p:extLst>
      <p:ext uri="{BB962C8B-B14F-4D97-AF65-F5344CB8AC3E}">
        <p14:creationId xmlns:p14="http://schemas.microsoft.com/office/powerpoint/2010/main" val="1223580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EC5CF-3184-CA33-C96E-B2E31624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3FD524A-0F4C-D179-52E4-2BD5DC409652}"/>
              </a:ext>
            </a:extLst>
          </p:cNvPr>
          <p:cNvSpPr/>
          <p:nvPr/>
        </p:nvSpPr>
        <p:spPr>
          <a:xfrm flipV="1">
            <a:off x="422559" y="1432881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686543-0FD4-A618-B001-00270DC99D37}"/>
              </a:ext>
            </a:extLst>
          </p:cNvPr>
          <p:cNvSpPr txBox="1"/>
          <p:nvPr/>
        </p:nvSpPr>
        <p:spPr>
          <a:xfrm>
            <a:off x="422560" y="392790"/>
            <a:ext cx="8277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2. </a:t>
            </a:r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환경 설계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32C9B1-DEF7-5057-1517-0E246FC9D369}"/>
              </a:ext>
            </a:extLst>
          </p:cNvPr>
          <p:cNvSpPr txBox="1"/>
          <p:nvPr/>
        </p:nvSpPr>
        <p:spPr>
          <a:xfrm>
            <a:off x="422558" y="1846713"/>
            <a:ext cx="5171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연료 조건 설계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6B7B9E4-FE17-F8EB-4208-D0BE0C2C44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DADA89-941F-9238-7D5A-69893BEA7E38}"/>
              </a:ext>
            </a:extLst>
          </p:cNvPr>
          <p:cNvSpPr txBox="1"/>
          <p:nvPr/>
        </p:nvSpPr>
        <p:spPr>
          <a:xfrm>
            <a:off x="422559" y="2472131"/>
            <a:ext cx="8400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연료가 없는 </a:t>
            </a: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baseline</a:t>
            </a: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에서 시작해</a:t>
            </a: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, </a:t>
            </a: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연료가 충분한 조건과 부족한 조건을 비교함으로써 자원 제약의 효과를 분리해서 관찰한다</a:t>
            </a: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.</a:t>
            </a:r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98AFC7F5-6F42-BCE7-0F9F-5BF9FCCA3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773880"/>
              </p:ext>
            </p:extLst>
          </p:nvPr>
        </p:nvGraphicFramePr>
        <p:xfrm>
          <a:off x="712358" y="3301909"/>
          <a:ext cx="7897169" cy="23436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6945">
                  <a:extLst>
                    <a:ext uri="{9D8B030D-6E8A-4147-A177-3AD203B41FA5}">
                      <a16:colId xmlns:a16="http://schemas.microsoft.com/office/drawing/2014/main" val="2953076966"/>
                    </a:ext>
                  </a:extLst>
                </a:gridCol>
                <a:gridCol w="1152888">
                  <a:extLst>
                    <a:ext uri="{9D8B030D-6E8A-4147-A177-3AD203B41FA5}">
                      <a16:colId xmlns:a16="http://schemas.microsoft.com/office/drawing/2014/main" val="2835020623"/>
                    </a:ext>
                  </a:extLst>
                </a:gridCol>
                <a:gridCol w="1179857">
                  <a:extLst>
                    <a:ext uri="{9D8B030D-6E8A-4147-A177-3AD203B41FA5}">
                      <a16:colId xmlns:a16="http://schemas.microsoft.com/office/drawing/2014/main" val="2841140053"/>
                    </a:ext>
                  </a:extLst>
                </a:gridCol>
                <a:gridCol w="1227050">
                  <a:extLst>
                    <a:ext uri="{9D8B030D-6E8A-4147-A177-3AD203B41FA5}">
                      <a16:colId xmlns:a16="http://schemas.microsoft.com/office/drawing/2014/main" val="755256831"/>
                    </a:ext>
                  </a:extLst>
                </a:gridCol>
                <a:gridCol w="3020429">
                  <a:extLst>
                    <a:ext uri="{9D8B030D-6E8A-4147-A177-3AD203B41FA5}">
                      <a16:colId xmlns:a16="http://schemas.microsoft.com/office/drawing/2014/main" val="1447916012"/>
                    </a:ext>
                  </a:extLst>
                </a:gridCol>
              </a:tblGrid>
              <a:tr h="5678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조건</a:t>
                      </a:r>
                    </a:p>
                  </a:txBody>
                  <a:tcPr anchor="ctr">
                    <a:solidFill>
                      <a:srgbClr val="D970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최대연료</a:t>
                      </a:r>
                    </a:p>
                  </a:txBody>
                  <a:tcPr anchor="ctr">
                    <a:solidFill>
                      <a:srgbClr val="D970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상태공간</a:t>
                      </a:r>
                    </a:p>
                  </a:txBody>
                  <a:tcPr anchor="ctr">
                    <a:solidFill>
                      <a:srgbClr val="D970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행동공간</a:t>
                      </a:r>
                    </a:p>
                  </a:txBody>
                  <a:tcPr anchor="ctr">
                    <a:solidFill>
                      <a:srgbClr val="D970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실험 의미</a:t>
                      </a:r>
                    </a:p>
                  </a:txBody>
                  <a:tcPr anchor="ctr">
                    <a:solidFill>
                      <a:srgbClr val="D970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78108"/>
                  </a:ext>
                </a:extLst>
              </a:tr>
              <a:tr h="5678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강체 TTF" pitchFamily="2" charset="-127"/>
                          <a:ea typeface="서강체 TTF" pitchFamily="2" charset="-127"/>
                        </a:rPr>
                        <a:t>none</a:t>
                      </a:r>
                      <a:endParaRPr lang="ko-KR" altLang="en-US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강체 TTF" pitchFamily="2" charset="-127"/>
                          <a:ea typeface="서강체 TTF" pitchFamily="2" charset="-127"/>
                        </a:rPr>
                        <a:t>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강체 TTF" pitchFamily="2" charset="-127"/>
                          <a:ea typeface="서강체 TTF" pitchFamily="2" charset="-127"/>
                        </a:rPr>
                        <a:t>500</a:t>
                      </a:r>
                      <a:endParaRPr lang="ko-KR" altLang="en-US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강체 TTF" pitchFamily="2" charset="-127"/>
                          <a:ea typeface="서강체 TTF" pitchFamily="2" charset="-127"/>
                        </a:rPr>
                        <a:t>6</a:t>
                      </a:r>
                      <a:endParaRPr lang="ko-KR" altLang="en-US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강체 TTF" pitchFamily="2" charset="-127"/>
                          <a:ea typeface="서강체 TTF" pitchFamily="2" charset="-127"/>
                        </a:rPr>
                        <a:t>원본 동일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685144"/>
                  </a:ext>
                </a:extLst>
              </a:tr>
              <a:tr h="5678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강체 TTF" pitchFamily="2" charset="-127"/>
                          <a:ea typeface="서강체 TTF" pitchFamily="2" charset="-127"/>
                        </a:rPr>
                        <a:t>generous</a:t>
                      </a:r>
                      <a:endParaRPr lang="ko-KR" altLang="en-US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강체 TTF" pitchFamily="2" charset="-127"/>
                          <a:ea typeface="서강체 TTF" pitchFamily="2" charset="-127"/>
                        </a:rPr>
                        <a:t>50</a:t>
                      </a:r>
                      <a:endParaRPr lang="ko-KR" altLang="en-US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강체 TTF" pitchFamily="2" charset="-127"/>
                          <a:ea typeface="서강체 TTF" pitchFamily="2" charset="-127"/>
                        </a:rPr>
                        <a:t>25500</a:t>
                      </a:r>
                      <a:endParaRPr lang="ko-KR" altLang="en-US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강체 TTF" pitchFamily="2" charset="-127"/>
                          <a:ea typeface="서강체 TTF" pitchFamily="2" charset="-127"/>
                        </a:rPr>
                        <a:t>7</a:t>
                      </a:r>
                      <a:endParaRPr lang="ko-KR" altLang="en-US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강체 TTF" pitchFamily="2" charset="-127"/>
                          <a:ea typeface="서강체 TTF" pitchFamily="2" charset="-127"/>
                        </a:rPr>
                        <a:t>대부분 완료 가능한 여유 조건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6646201"/>
                  </a:ext>
                </a:extLst>
              </a:tr>
              <a:tr h="5678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강체 TTF" pitchFamily="2" charset="-127"/>
                          <a:ea typeface="서강체 TTF" pitchFamily="2" charset="-127"/>
                        </a:rPr>
                        <a:t>tight</a:t>
                      </a:r>
                      <a:endParaRPr lang="ko-KR" altLang="en-US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강체 TTF" pitchFamily="2" charset="-127"/>
                          <a:ea typeface="서강체 TTF" pitchFamily="2" charset="-127"/>
                        </a:rPr>
                        <a:t>30</a:t>
                      </a:r>
                      <a:endParaRPr lang="ko-KR" altLang="en-US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강체 TTF" pitchFamily="2" charset="-127"/>
                          <a:ea typeface="서강체 TTF" pitchFamily="2" charset="-127"/>
                        </a:rPr>
                        <a:t>25500</a:t>
                      </a:r>
                      <a:endParaRPr lang="ko-KR" altLang="en-US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강체 TTF" pitchFamily="2" charset="-127"/>
                          <a:ea typeface="서강체 TTF" pitchFamily="2" charset="-127"/>
                        </a:rPr>
                        <a:t>7</a:t>
                      </a:r>
                      <a:endParaRPr lang="ko-KR" altLang="en-US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강체 TTF" pitchFamily="2" charset="-127"/>
                          <a:ea typeface="서강체 TTF" pitchFamily="2" charset="-127"/>
                        </a:rPr>
                        <a:t>효율적 경로와 </a:t>
                      </a:r>
                      <a:endParaRPr lang="en-US" altLang="ko-KR" dirty="0">
                        <a:latin typeface="서강체 TTF" pitchFamily="2" charset="-127"/>
                        <a:ea typeface="서강체 TTF" pitchFamily="2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atin typeface="서강체 TTF" pitchFamily="2" charset="-127"/>
                          <a:ea typeface="서강체 TTF" pitchFamily="2" charset="-127"/>
                        </a:rPr>
                        <a:t>주유 전략이 필요한 조건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1396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43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83CCB-E234-531A-0443-8E9A40986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564AF32E-0387-838E-28BE-9E7A6BD73BFD}"/>
              </a:ext>
            </a:extLst>
          </p:cNvPr>
          <p:cNvSpPr/>
          <p:nvPr/>
        </p:nvSpPr>
        <p:spPr>
          <a:xfrm flipV="1">
            <a:off x="422559" y="1432881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B290DD-08AA-F5AB-50A1-DF53A1240CDE}"/>
              </a:ext>
            </a:extLst>
          </p:cNvPr>
          <p:cNvSpPr txBox="1"/>
          <p:nvPr/>
        </p:nvSpPr>
        <p:spPr>
          <a:xfrm>
            <a:off x="422559" y="2472131"/>
            <a:ext cx="84007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TD </a:t>
            </a: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기반으로 에피소드 완료 없이 매 스텝 업데이트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Q-table </a:t>
            </a: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사용하여 동일한 </a:t>
            </a: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state </a:t>
            </a: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표현</a:t>
            </a: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(25,500) </a:t>
            </a: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적용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ε-greedy </a:t>
            </a: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탐색을 통한 탐색</a:t>
            </a: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/</a:t>
            </a: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활용 균형 방식 동일</a:t>
            </a:r>
            <a:endParaRPr lang="en-US" altLang="ko-KR" sz="2000" dirty="0">
              <a:latin typeface="서강체" pitchFamily="50" charset="-127"/>
              <a:ea typeface="서강체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34E11A-64D6-B97A-2E9D-F85BEC00089F}"/>
              </a:ext>
            </a:extLst>
          </p:cNvPr>
          <p:cNvSpPr txBox="1"/>
          <p:nvPr/>
        </p:nvSpPr>
        <p:spPr>
          <a:xfrm>
            <a:off x="422560" y="392790"/>
            <a:ext cx="8277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3. </a:t>
            </a:r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강화학습 알고리즘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AB3318-2F28-0A8B-214B-FEEA145EF0D2}"/>
              </a:ext>
            </a:extLst>
          </p:cNvPr>
          <p:cNvSpPr txBox="1"/>
          <p:nvPr/>
        </p:nvSpPr>
        <p:spPr>
          <a:xfrm>
            <a:off x="422558" y="1846713"/>
            <a:ext cx="5798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DA242C"/>
                </a:solidFill>
                <a:latin typeface="서강체" pitchFamily="50" charset="-127"/>
                <a:ea typeface="서강체" pitchFamily="50" charset="-127"/>
              </a:rPr>
              <a:t>Q-Learnin</a:t>
            </a:r>
            <a:r>
              <a:rPr lang="en-US" altLang="ko-KR" sz="2400" b="1" dirty="0">
                <a:latin typeface="서강체" pitchFamily="50" charset="-127"/>
                <a:ea typeface="서강체" pitchFamily="50" charset="-127"/>
              </a:rPr>
              <a:t>g vs </a:t>
            </a:r>
            <a:r>
              <a:rPr lang="en-US" altLang="ko-KR" sz="2400" b="1" dirty="0">
                <a:solidFill>
                  <a:srgbClr val="DA242C"/>
                </a:solidFill>
                <a:latin typeface="서강체" pitchFamily="50" charset="-127"/>
                <a:ea typeface="서강체" pitchFamily="50" charset="-127"/>
              </a:rPr>
              <a:t>SARSA</a:t>
            </a:r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를 적용</a:t>
            </a:r>
            <a:endParaRPr lang="en-US" altLang="ko-KR" sz="2400" b="1" dirty="0">
              <a:latin typeface="서강체" pitchFamily="50" charset="-127"/>
              <a:ea typeface="서강체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1C9DC65-E55E-43B4-5575-6569CEC2F1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2" name="Shape 7">
            <a:extLst>
              <a:ext uri="{FF2B5EF4-FFF2-40B4-BE49-F238E27FC236}">
                <a16:creationId xmlns:a16="http://schemas.microsoft.com/office/drawing/2014/main" id="{F7C42C83-B143-B4D2-CD60-2E9F23D1E0EC}"/>
              </a:ext>
            </a:extLst>
          </p:cNvPr>
          <p:cNvSpPr/>
          <p:nvPr/>
        </p:nvSpPr>
        <p:spPr>
          <a:xfrm>
            <a:off x="457200" y="3651546"/>
            <a:ext cx="4114800" cy="2474335"/>
          </a:xfrm>
          <a:prstGeom prst="roundRect">
            <a:avLst>
              <a:gd name="adj" fmla="val 3404"/>
            </a:avLst>
          </a:prstGeom>
          <a:noFill/>
          <a:ln w="6350">
            <a:solidFill>
              <a:schemeClr val="tx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1D27C954-1FE5-BF4E-0B55-50CC25CEB4F5}"/>
              </a:ext>
            </a:extLst>
          </p:cNvPr>
          <p:cNvSpPr/>
          <p:nvPr/>
        </p:nvSpPr>
        <p:spPr>
          <a:xfrm>
            <a:off x="457200" y="3651547"/>
            <a:ext cx="4114800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022BED27-2C6A-66F6-58E4-80F0DEA15E8A}"/>
              </a:ext>
            </a:extLst>
          </p:cNvPr>
          <p:cNvSpPr/>
          <p:nvPr/>
        </p:nvSpPr>
        <p:spPr>
          <a:xfrm>
            <a:off x="566928" y="3669835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0000"/>
                </a:solidFill>
                <a:ea typeface="SOGANG UNIVERSITY"/>
              </a:rPr>
              <a:t>Q-Learning (off-policy)</a:t>
            </a:r>
            <a:endParaRPr lang="en-US" dirty="0">
              <a:solidFill>
                <a:srgbClr val="FF0000"/>
              </a:solidFill>
              <a:ea typeface="SOGANG UNIVERSITY"/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30AD7C42-8C6C-1CEA-8693-B5141C4A6548}"/>
              </a:ext>
            </a:extLst>
          </p:cNvPr>
          <p:cNvSpPr/>
          <p:nvPr/>
        </p:nvSpPr>
        <p:spPr>
          <a:xfrm>
            <a:off x="528621" y="4145323"/>
            <a:ext cx="4031428" cy="15920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ko-KR" altLang="en-US" sz="1400" dirty="0">
                <a:ea typeface="SOGANG UNIVERSITY"/>
              </a:rPr>
              <a:t>다음 상태에서 가능한 최선의 행동 가치를 사용한다</a:t>
            </a:r>
          </a:p>
          <a:p>
            <a:pPr marL="342900" indent="-342900">
              <a:buSzPct val="100000"/>
              <a:buChar char="•"/>
            </a:pPr>
            <a:r>
              <a:rPr lang="ko-KR" altLang="en-US" sz="1400" dirty="0">
                <a:ea typeface="SOGANG UNIVERSITY"/>
              </a:rPr>
              <a:t>최적 정책을 더 직접적으로 추정한다</a:t>
            </a:r>
          </a:p>
          <a:p>
            <a:pPr marL="342900" indent="-342900">
              <a:buSzPct val="100000"/>
              <a:buChar char="•"/>
            </a:pPr>
            <a:r>
              <a:rPr lang="ko-KR" altLang="en-US" sz="1400" dirty="0">
                <a:ea typeface="SOGANG UNIVERSITY"/>
              </a:rPr>
              <a:t>연료 제약이 약하면 빠른 수렴을 기대할 수 있다</a:t>
            </a:r>
            <a:endParaRPr lang="en-US" sz="1400" dirty="0">
              <a:ea typeface="SOGANG UNIVERSITY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FC11A9A0-F173-6B74-31E1-8EA0B4842382}"/>
              </a:ext>
            </a:extLst>
          </p:cNvPr>
          <p:cNvSpPr/>
          <p:nvPr/>
        </p:nvSpPr>
        <p:spPr>
          <a:xfrm>
            <a:off x="4800600" y="3651546"/>
            <a:ext cx="4114800" cy="2474335"/>
          </a:xfrm>
          <a:prstGeom prst="roundRect">
            <a:avLst>
              <a:gd name="adj" fmla="val 3404"/>
            </a:avLst>
          </a:prstGeom>
          <a:noFill/>
          <a:ln w="6350">
            <a:solidFill>
              <a:schemeClr val="tx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CCA119A1-1A05-A90F-C052-DBA1A7D26B33}"/>
              </a:ext>
            </a:extLst>
          </p:cNvPr>
          <p:cNvSpPr/>
          <p:nvPr/>
        </p:nvSpPr>
        <p:spPr>
          <a:xfrm>
            <a:off x="4800600" y="3651547"/>
            <a:ext cx="4114800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CA41BBC1-8CE9-73CC-FF4A-19ADC598F7F8}"/>
              </a:ext>
            </a:extLst>
          </p:cNvPr>
          <p:cNvSpPr/>
          <p:nvPr/>
        </p:nvSpPr>
        <p:spPr>
          <a:xfrm>
            <a:off x="4910328" y="3669835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0000"/>
                </a:solidFill>
                <a:ea typeface="SOGANG UNIVERSITY"/>
              </a:rPr>
              <a:t>SARSA (on-policy)</a:t>
            </a:r>
            <a:endParaRPr lang="en-US" dirty="0">
              <a:solidFill>
                <a:srgbClr val="FF0000"/>
              </a:solidFill>
              <a:ea typeface="SOGANG UNIVERSITY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31C279CE-51FA-D0F3-DD30-DA1A56B9BA7C}"/>
              </a:ext>
            </a:extLst>
          </p:cNvPr>
          <p:cNvSpPr/>
          <p:nvPr/>
        </p:nvSpPr>
        <p:spPr>
          <a:xfrm>
            <a:off x="4872021" y="4145323"/>
            <a:ext cx="3924507" cy="15920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ko-KR" altLang="en-US" sz="1400" dirty="0">
                <a:ea typeface="SOGANG UNIVERSITY"/>
              </a:rPr>
              <a:t>실제로 선택한 다음 행동을 기준으로 업데이트한다</a:t>
            </a:r>
          </a:p>
          <a:p>
            <a:pPr marL="342900" indent="-342900">
              <a:buSzPct val="100000"/>
              <a:buChar char="•"/>
            </a:pPr>
            <a:r>
              <a:rPr lang="ko-KR" altLang="en-US" sz="1400" dirty="0">
                <a:ea typeface="SOGANG UNIVERSITY"/>
              </a:rPr>
              <a:t>탐험 정책의 위험을 학습에 반영한다</a:t>
            </a:r>
          </a:p>
          <a:p>
            <a:pPr marL="342900" indent="-342900">
              <a:buSzPct val="100000"/>
              <a:buChar char="•"/>
            </a:pPr>
            <a:r>
              <a:rPr lang="en-US" altLang="ko-KR" sz="1400" dirty="0">
                <a:ea typeface="SOGANG UNIVERSITY"/>
              </a:rPr>
              <a:t>tight </a:t>
            </a:r>
            <a:r>
              <a:rPr lang="ko-KR" altLang="en-US" sz="1400" dirty="0">
                <a:ea typeface="SOGANG UNIVERSITY"/>
              </a:rPr>
              <a:t>조건에서 더 보수적인 전략이 나올 수 있다</a:t>
            </a:r>
            <a:endParaRPr lang="en-US" sz="1400" dirty="0">
              <a:ea typeface="SOGANG UNIVERSITY"/>
            </a:endParaRPr>
          </a:p>
        </p:txBody>
      </p:sp>
    </p:spTree>
    <p:extLst>
      <p:ext uri="{BB962C8B-B14F-4D97-AF65-F5344CB8AC3E}">
        <p14:creationId xmlns:p14="http://schemas.microsoft.com/office/powerpoint/2010/main" val="3363827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0D9F3-CBBA-3A2C-021F-81BD70825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73CCAFA6-C0DC-5580-B189-3B94A62B9673}"/>
              </a:ext>
            </a:extLst>
          </p:cNvPr>
          <p:cNvSpPr/>
          <p:nvPr/>
        </p:nvSpPr>
        <p:spPr>
          <a:xfrm flipV="1">
            <a:off x="422559" y="1432881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34298C-433B-DEA4-EAA9-DA5075802405}"/>
              </a:ext>
            </a:extLst>
          </p:cNvPr>
          <p:cNvSpPr txBox="1"/>
          <p:nvPr/>
        </p:nvSpPr>
        <p:spPr>
          <a:xfrm>
            <a:off x="422560" y="392790"/>
            <a:ext cx="8277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3. </a:t>
            </a:r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강화학습 알고리즘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6766A0-080C-D9EB-A95A-351663C082B7}"/>
              </a:ext>
            </a:extLst>
          </p:cNvPr>
          <p:cNvSpPr txBox="1"/>
          <p:nvPr/>
        </p:nvSpPr>
        <p:spPr>
          <a:xfrm>
            <a:off x="422558" y="1846713"/>
            <a:ext cx="8400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서강체" pitchFamily="50" charset="-127"/>
                <a:ea typeface="서강체" pitchFamily="50" charset="-127"/>
              </a:rPr>
              <a:t>Hyperparameter </a:t>
            </a:r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설정</a:t>
            </a:r>
            <a:endParaRPr lang="en-US" altLang="ko-KR" sz="2400" b="1" dirty="0">
              <a:latin typeface="서강체" pitchFamily="50" charset="-127"/>
              <a:ea typeface="서강체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7CD5295-CAAB-6C31-3FF0-9A27A43773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4AF5BC9-C8C8-8301-5214-084FB1A91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58" y="3139119"/>
            <a:ext cx="2702841" cy="2451863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998259" y="2270439"/>
            <a:ext cx="5017246" cy="960120"/>
          </a:xfrm>
          <a:prstGeom prst="roundRect">
            <a:avLst>
              <a:gd name="adj" fmla="val 7619"/>
            </a:avLst>
          </a:prstGeom>
          <a:noFill/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142642" y="2343591"/>
            <a:ext cx="2377440" cy="242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latin typeface="12롯데마트드림Bold" panose="02020603020101020101" pitchFamily="18" charset="-127"/>
                <a:ea typeface="SOGANG UNIVERSITY"/>
                <a:cs typeface="Courier New" pitchFamily="34" charset="-120"/>
              </a:rPr>
              <a:t>학습률  α = 0.1</a:t>
            </a:r>
            <a:endParaRPr lang="en-US" sz="1400" dirty="0">
              <a:latin typeface="12롯데마트드림Bold" panose="02020603020101020101" pitchFamily="18" charset="-127"/>
              <a:ea typeface="SOGANG UNIVERSITY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309266" y="2586310"/>
            <a:ext cx="4523359" cy="552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ea typeface="SOGANG UNIVERSITY"/>
              </a:rPr>
              <a:t>Q-Learning·SARSA의 표준 초기값. </a:t>
            </a:r>
          </a:p>
          <a:p>
            <a:r>
              <a:rPr lang="en-US" sz="1100" dirty="0">
                <a:ea typeface="SOGANG UNIVERSITY"/>
              </a:rPr>
              <a:t>α가 너무 크면(&gt;0.5) 발산, 너무 작으면(&lt;0.01) 수렴 속도가 지나치게 느림. </a:t>
            </a:r>
          </a:p>
          <a:p>
            <a:r>
              <a:rPr lang="en-US" sz="1100" dirty="0">
                <a:ea typeface="SOGANG UNIVERSITY"/>
              </a:rPr>
              <a:t>0.1은 안정성과 수렴 속도의 </a:t>
            </a:r>
            <a:r>
              <a:rPr lang="en-US" sz="1100" dirty="0" err="1">
                <a:ea typeface="SOGANG UNIVERSITY"/>
              </a:rPr>
              <a:t>균형점으로</a:t>
            </a:r>
            <a:r>
              <a:rPr lang="en-US" sz="1100" dirty="0">
                <a:ea typeface="SOGANG UNIVERSITY"/>
              </a:rPr>
              <a:t> </a:t>
            </a:r>
            <a:r>
              <a:rPr lang="en-US" sz="1100" dirty="0" err="1">
                <a:ea typeface="SOGANG UNIVERSITY"/>
              </a:rPr>
              <a:t>사용</a:t>
            </a:r>
            <a:r>
              <a:rPr lang="en-US" sz="1100" dirty="0">
                <a:ea typeface="SOGANG UNIVERSITY"/>
              </a:rPr>
              <a:t>.</a:t>
            </a:r>
          </a:p>
        </p:txBody>
      </p:sp>
      <p:sp>
        <p:nvSpPr>
          <p:cNvPr id="12" name="Shape 7"/>
          <p:cNvSpPr/>
          <p:nvPr/>
        </p:nvSpPr>
        <p:spPr>
          <a:xfrm>
            <a:off x="3998258" y="3321999"/>
            <a:ext cx="5017247" cy="960120"/>
          </a:xfrm>
          <a:prstGeom prst="roundRect">
            <a:avLst>
              <a:gd name="adj" fmla="val 7619"/>
            </a:avLst>
          </a:prstGeom>
          <a:noFill/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/>
          <p:nvPr/>
        </p:nvSpPr>
        <p:spPr>
          <a:xfrm>
            <a:off x="4142642" y="3395151"/>
            <a:ext cx="2377440" cy="27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latin typeface="12롯데마트드림Bold" panose="02020603020101020101" pitchFamily="18" charset="-127"/>
                <a:ea typeface="SOGANG UNIVERSITY"/>
                <a:cs typeface="Courier New" pitchFamily="34" charset="-120"/>
              </a:rPr>
              <a:t>할인율  γ = 0.99</a:t>
            </a:r>
            <a:endParaRPr lang="en-US" sz="1400" dirty="0">
              <a:latin typeface="12롯데마트드림Bold" panose="02020603020101020101" pitchFamily="18" charset="-127"/>
              <a:ea typeface="SOGANG UNIVERSITY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309266" y="3672833"/>
            <a:ext cx="4523359" cy="517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ea typeface="SOGANG UNIVERSITY"/>
              </a:rPr>
              <a:t>택시 문제는 탑승→이동→하차까지 여러 스텝이 필요한 장기 과제. </a:t>
            </a:r>
          </a:p>
          <a:p>
            <a:r>
              <a:rPr lang="en-US" sz="1100" dirty="0" err="1">
                <a:ea typeface="SOGANG UNIVERSITY"/>
              </a:rPr>
              <a:t>γ가</a:t>
            </a:r>
            <a:r>
              <a:rPr lang="en-US" sz="1100" dirty="0">
                <a:ea typeface="SOGANG UNIVERSITY"/>
              </a:rPr>
              <a:t> 낮으면(0.9 이하) 먼 미래 보상을 과소평가해 근시안적 정책 </a:t>
            </a:r>
            <a:r>
              <a:rPr lang="en-US" sz="1100" dirty="0" err="1">
                <a:ea typeface="SOGANG UNIVERSITY"/>
              </a:rPr>
              <a:t>학습</a:t>
            </a:r>
            <a:r>
              <a:rPr lang="en-US" sz="1100" dirty="0">
                <a:ea typeface="SOGANG UNIVERSITY"/>
              </a:rPr>
              <a:t>.</a:t>
            </a:r>
          </a:p>
          <a:p>
            <a:r>
              <a:rPr lang="en-US" sz="1100" dirty="0">
                <a:ea typeface="SOGANG UNIVERSITY"/>
              </a:rPr>
              <a:t> 0.99로 미래 보상을 충분히 고려.</a:t>
            </a:r>
          </a:p>
        </p:txBody>
      </p:sp>
      <p:sp>
        <p:nvSpPr>
          <p:cNvPr id="15" name="Shape 11"/>
          <p:cNvSpPr/>
          <p:nvPr/>
        </p:nvSpPr>
        <p:spPr>
          <a:xfrm>
            <a:off x="3998258" y="4373559"/>
            <a:ext cx="5017247" cy="960120"/>
          </a:xfrm>
          <a:prstGeom prst="roundRect">
            <a:avLst>
              <a:gd name="adj" fmla="val 7619"/>
            </a:avLst>
          </a:prstGeom>
          <a:noFill/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4142642" y="4446711"/>
            <a:ext cx="2377440" cy="321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latin typeface="12롯데마트드림Bold" panose="02020603020101020101" pitchFamily="18" charset="-127"/>
                <a:ea typeface="SOGANG UNIVERSITY"/>
                <a:cs typeface="Courier New" pitchFamily="34" charset="-120"/>
              </a:rPr>
              <a:t>ε decay = 0.998</a:t>
            </a:r>
            <a:endParaRPr lang="en-US" sz="1400" dirty="0">
              <a:latin typeface="12롯데마트드림Bold" panose="02020603020101020101" pitchFamily="18" charset="-127"/>
              <a:ea typeface="SOGANG UNIVERSITY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267199" y="4739790"/>
            <a:ext cx="4748305" cy="517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ea typeface="SOGANG UNIVERSITY"/>
              </a:rPr>
              <a:t>step 단위 decay는 에피소드 길이에 따라 조건 간 탐색 속도가 달라짐(불공정). </a:t>
            </a:r>
          </a:p>
          <a:p>
            <a:r>
              <a:rPr lang="en-US" sz="1100" dirty="0">
                <a:ea typeface="SOGANG UNIVERSITY"/>
              </a:rPr>
              <a:t>episode 종료 후 1회 감소로 3가지 연료 조건이 동일한 탐색-활용 전환 시점을 </a:t>
            </a:r>
            <a:r>
              <a:rPr lang="en-US" sz="1100" dirty="0" err="1">
                <a:ea typeface="SOGANG UNIVERSITY"/>
              </a:rPr>
              <a:t>가지도록</a:t>
            </a:r>
            <a:r>
              <a:rPr lang="en-US" sz="1100" dirty="0">
                <a:ea typeface="SOGANG UNIVERSITY"/>
              </a:rPr>
              <a:t> </a:t>
            </a:r>
            <a:r>
              <a:rPr lang="en-US" sz="1100" dirty="0" err="1">
                <a:ea typeface="SOGANG UNIVERSITY"/>
              </a:rPr>
              <a:t>설계</a:t>
            </a:r>
            <a:r>
              <a:rPr lang="en-US" sz="1100" dirty="0">
                <a:ea typeface="SOGANG UNIVERSITY"/>
              </a:rPr>
              <a:t>.</a:t>
            </a:r>
          </a:p>
        </p:txBody>
      </p:sp>
      <p:sp>
        <p:nvSpPr>
          <p:cNvPr id="18" name="Shape 15"/>
          <p:cNvSpPr/>
          <p:nvPr/>
        </p:nvSpPr>
        <p:spPr>
          <a:xfrm>
            <a:off x="3998258" y="5425119"/>
            <a:ext cx="5017247" cy="960120"/>
          </a:xfrm>
          <a:prstGeom prst="roundRect">
            <a:avLst>
              <a:gd name="adj" fmla="val 7619"/>
            </a:avLst>
          </a:prstGeom>
          <a:noFill/>
          <a:ln w="635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142641" y="5498271"/>
            <a:ext cx="3130717" cy="277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latin typeface="12롯데마트드림Bold" panose="02020603020101020101" pitchFamily="18" charset="-127"/>
                <a:ea typeface="SOGANG UNIVERSITY"/>
                <a:cs typeface="Courier New" pitchFamily="34" charset="-120"/>
              </a:rPr>
              <a:t>에피소드 수 = 5,000 , </a:t>
            </a:r>
            <a:r>
              <a:rPr lang="en-US" sz="1400" b="1" dirty="0" err="1">
                <a:latin typeface="12롯데마트드림Bold" panose="02020603020101020101" pitchFamily="18" charset="-127"/>
                <a:ea typeface="SOGANG UNIVERSITY"/>
                <a:cs typeface="Courier New" pitchFamily="34" charset="-120"/>
              </a:rPr>
              <a:t>시드</a:t>
            </a:r>
            <a:r>
              <a:rPr lang="en-US" sz="1400" b="1" dirty="0">
                <a:latin typeface="12롯데마트드림Bold" panose="02020603020101020101" pitchFamily="18" charset="-127"/>
                <a:ea typeface="SOGANG UNIVERSITY"/>
                <a:cs typeface="Courier New" pitchFamily="34" charset="-120"/>
              </a:rPr>
              <a:t> 5개</a:t>
            </a:r>
            <a:endParaRPr lang="en-US" sz="1400" dirty="0">
              <a:latin typeface="12롯데마트드림Bold" panose="02020603020101020101" pitchFamily="18" charset="-127"/>
              <a:ea typeface="SOGANG UNIVERSITY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09266" y="5775953"/>
            <a:ext cx="4523359" cy="517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ea typeface="SOGANG UNIVERSITY"/>
              </a:rPr>
              <a:t>ε이 1.0 → 0.01로 감소하는 데 약 2,300 에피소드 필요(0.998^2300 ≈ 0.01). </a:t>
            </a:r>
          </a:p>
          <a:p>
            <a:r>
              <a:rPr lang="en-US" sz="1100" dirty="0">
                <a:ea typeface="SOGANG UNIVERSITY"/>
              </a:rPr>
              <a:t>5,000은 수렴 확인까지 충분한 여유. </a:t>
            </a:r>
          </a:p>
          <a:p>
            <a:r>
              <a:rPr lang="en-US" sz="1100" dirty="0" err="1">
                <a:ea typeface="SOGANG UNIVERSITY"/>
              </a:rPr>
              <a:t>시드</a:t>
            </a:r>
            <a:r>
              <a:rPr lang="en-US" sz="1100" dirty="0">
                <a:ea typeface="SOGANG UNIVERSITY"/>
              </a:rPr>
              <a:t> 5개로 95% 신뢰구간을 계산해 결과의 재현성 검증.</a:t>
            </a:r>
          </a:p>
        </p:txBody>
      </p:sp>
    </p:spTree>
    <p:extLst>
      <p:ext uri="{BB962C8B-B14F-4D97-AF65-F5344CB8AC3E}">
        <p14:creationId xmlns:p14="http://schemas.microsoft.com/office/powerpoint/2010/main" val="2033044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80F9F-1B5E-5B45-5A6D-ADC2F7001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22039DB-1E19-C10E-805D-183DE57D2A55}"/>
              </a:ext>
            </a:extLst>
          </p:cNvPr>
          <p:cNvSpPr/>
          <p:nvPr/>
        </p:nvSpPr>
        <p:spPr>
          <a:xfrm flipV="1">
            <a:off x="422559" y="1432881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8A20C2-FABC-E4A7-761F-C3FE97A40BEB}"/>
              </a:ext>
            </a:extLst>
          </p:cNvPr>
          <p:cNvSpPr txBox="1"/>
          <p:nvPr/>
        </p:nvSpPr>
        <p:spPr>
          <a:xfrm>
            <a:off x="422560" y="392790"/>
            <a:ext cx="8277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4. </a:t>
            </a:r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실험 셋업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7B8B78-EFF4-D8AB-57DB-FF9CE5F3F4D1}"/>
              </a:ext>
            </a:extLst>
          </p:cNvPr>
          <p:cNvSpPr txBox="1"/>
          <p:nvPr/>
        </p:nvSpPr>
        <p:spPr>
          <a:xfrm>
            <a:off x="422559" y="1846713"/>
            <a:ext cx="8332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실험 설계 및 평가 지표</a:t>
            </a:r>
            <a:endParaRPr lang="en-US" altLang="ko-KR" sz="2400" b="1" dirty="0">
              <a:latin typeface="서강체" pitchFamily="50" charset="-127"/>
              <a:ea typeface="서강체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D648F45-E0A1-2E33-397E-64FFC67AFC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457200" y="2429118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ea typeface="SOGANG UNIVERSITY"/>
            </a:endParaRPr>
          </a:p>
        </p:txBody>
      </p:sp>
      <p:sp>
        <p:nvSpPr>
          <p:cNvPr id="2" name="Text 4"/>
          <p:cNvSpPr/>
          <p:nvPr/>
        </p:nvSpPr>
        <p:spPr>
          <a:xfrm>
            <a:off x="640080" y="249312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 err="1">
                <a:solidFill>
                  <a:srgbClr val="1E2761"/>
                </a:solidFill>
                <a:latin typeface="서강체 TTF" pitchFamily="2" charset="-127"/>
                <a:ea typeface="서강체 TTF" pitchFamily="2" charset="-127"/>
              </a:rPr>
              <a:t>실험</a:t>
            </a:r>
            <a:r>
              <a:rPr lang="en-US" b="1" dirty="0">
                <a:solidFill>
                  <a:srgbClr val="1E2761"/>
                </a:solidFill>
                <a:latin typeface="서강체 TTF" pitchFamily="2" charset="-127"/>
                <a:ea typeface="서강체 TTF" pitchFamily="2" charset="-127"/>
              </a:rPr>
              <a:t> 환경</a:t>
            </a:r>
            <a:endParaRPr lang="en-US" dirty="0"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886318"/>
            <a:ext cx="36576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ea typeface="SOGANG UNIVERSITY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633549"/>
              </p:ext>
            </p:extLst>
          </p:nvPr>
        </p:nvGraphicFramePr>
        <p:xfrm>
          <a:off x="621792" y="2977758"/>
          <a:ext cx="3730752" cy="3072384"/>
        </p:xfrm>
        <a:graphic>
          <a:graphicData uri="http://schemas.openxmlformats.org/drawingml/2006/table">
            <a:tbl>
              <a:tblPr/>
              <a:tblGrid>
                <a:gridCol w="988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2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기반 환경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gymnasium Taxi-v4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연료 조건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none / generous(50) / tight(30)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알고리즘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Q-Learning  ·  SARSA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시드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SEEDS = [0, 1, 2, 3, 4]  (5개)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에피소드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EPISODES = 5,000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최대 스텝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MAX_STEPS = 200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총 실험 수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서강체 TTF" pitchFamily="2" charset="-127"/>
                          <a:ea typeface="서강체 TTF" pitchFamily="2" charset="-127"/>
                        </a:rPr>
                        <a:t>3 × 2 × 5 = 30 runs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4663440" y="2429118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ea typeface="SOGANG UNIVERSITY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846320" y="249312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 err="1">
                <a:solidFill>
                  <a:srgbClr val="DA242C"/>
                </a:solidFill>
                <a:latin typeface="서강체 TTF" pitchFamily="2" charset="-127"/>
                <a:ea typeface="서강체 TTF" pitchFamily="2" charset="-127"/>
              </a:rPr>
              <a:t>평가</a:t>
            </a:r>
            <a:r>
              <a:rPr lang="en-US" b="1" dirty="0">
                <a:solidFill>
                  <a:srgbClr val="DA242C"/>
                </a:solidFill>
                <a:latin typeface="서강체 TTF" pitchFamily="2" charset="-127"/>
                <a:ea typeface="서강체 TTF" pitchFamily="2" charset="-127"/>
              </a:rPr>
              <a:t> 지표 (Evaluation Metric)</a:t>
            </a:r>
            <a:endParaRPr lang="en-US" dirty="0">
              <a:solidFill>
                <a:srgbClr val="DA242C"/>
              </a:solidFill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4846320" y="2886318"/>
            <a:ext cx="36576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ea typeface="SOGANG UNIVERSITY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828032" y="3005190"/>
            <a:ext cx="3730752" cy="1005840"/>
          </a:xfrm>
          <a:prstGeom prst="roundRect">
            <a:avLst>
              <a:gd name="adj" fmla="val 7273"/>
            </a:avLst>
          </a:prstGeom>
          <a:noFill/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ea typeface="SOGANG UNIVERSITY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956048" y="307834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latin typeface="서강체 TTF" pitchFamily="2" charset="-127"/>
                <a:ea typeface="서강체 TTF" pitchFamily="2" charset="-127"/>
              </a:rPr>
              <a:t>성공률 (Success Rate)</a:t>
            </a:r>
            <a:endParaRPr lang="en-US" sz="1400" dirty="0"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956048" y="337095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A242C"/>
                </a:solidFill>
                <a:latin typeface="서강체 TTF" pitchFamily="2" charset="-127"/>
                <a:ea typeface="서강체 TTF" pitchFamily="2" charset="-127"/>
                <a:cs typeface="Courier New" pitchFamily="34" charset="-120"/>
              </a:rPr>
              <a:t>env["delivered"]  →  successes 배열</a:t>
            </a:r>
            <a:endParaRPr lang="en-US" sz="1200" dirty="0">
              <a:solidFill>
                <a:srgbClr val="DA242C"/>
              </a:solidFill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956048" y="365273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서강체 TTF" pitchFamily="2" charset="-127"/>
                <a:ea typeface="서강체 TTF" pitchFamily="2" charset="-127"/>
              </a:rPr>
              <a:t>마지막 500 에피소드의 성공 비율</a:t>
            </a:r>
          </a:p>
          <a:p>
            <a:r>
              <a:rPr lang="en-US" sz="1200" dirty="0">
                <a:latin typeface="서강체 TTF" pitchFamily="2" charset="-127"/>
                <a:ea typeface="서강체 TTF" pitchFamily="2" charset="-127"/>
              </a:rPr>
              <a:t>성공 = 승객을 목적지에 내려준 경우</a:t>
            </a:r>
          </a:p>
        </p:txBody>
      </p:sp>
      <p:sp>
        <p:nvSpPr>
          <p:cNvPr id="18" name="Shape 13"/>
          <p:cNvSpPr/>
          <p:nvPr/>
        </p:nvSpPr>
        <p:spPr>
          <a:xfrm>
            <a:off x="4828032" y="4120758"/>
            <a:ext cx="3730752" cy="1005840"/>
          </a:xfrm>
          <a:prstGeom prst="roundRect">
            <a:avLst>
              <a:gd name="adj" fmla="val 7273"/>
            </a:avLst>
          </a:prstGeom>
          <a:noFill/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ea typeface="SOGANG UNIVERSITY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956048" y="419391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latin typeface="서강체 TTF" pitchFamily="2" charset="-127"/>
                <a:ea typeface="서강체 TTF" pitchFamily="2" charset="-127"/>
              </a:rPr>
              <a:t>평균 스텝 (Avg Steps)</a:t>
            </a:r>
            <a:endParaRPr lang="en-US" sz="1400" dirty="0"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956048" y="448651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A242C"/>
                </a:solidFill>
                <a:latin typeface="서강체 TTF" pitchFamily="2" charset="-127"/>
                <a:ea typeface="서강체 TTF" pitchFamily="2" charset="-127"/>
                <a:cs typeface="Courier New" pitchFamily="34" charset="-120"/>
              </a:rPr>
              <a:t>env["steps"]  →  steps 배열</a:t>
            </a:r>
            <a:endParaRPr lang="en-US" sz="1200" dirty="0">
              <a:solidFill>
                <a:srgbClr val="DA242C"/>
              </a:solidFill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4956048" y="476830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서강체 TTF" pitchFamily="2" charset="-127"/>
                <a:ea typeface="서강체 TTF" pitchFamily="2" charset="-127"/>
              </a:rPr>
              <a:t>성공한 에피소드만의 평균 이동 횟수</a:t>
            </a:r>
          </a:p>
          <a:p>
            <a:r>
              <a:rPr lang="en-US" sz="1200" dirty="0">
                <a:latin typeface="서강체 TTF" pitchFamily="2" charset="-127"/>
                <a:ea typeface="서강체 TTF" pitchFamily="2" charset="-127"/>
              </a:rPr>
              <a:t>(실패 에피소드는 MAX_STEPS=200으로 처리)</a:t>
            </a:r>
          </a:p>
        </p:txBody>
      </p:sp>
      <p:sp>
        <p:nvSpPr>
          <p:cNvPr id="22" name="Shape 17"/>
          <p:cNvSpPr/>
          <p:nvPr/>
        </p:nvSpPr>
        <p:spPr>
          <a:xfrm>
            <a:off x="4828032" y="5236326"/>
            <a:ext cx="3730752" cy="1005840"/>
          </a:xfrm>
          <a:prstGeom prst="roundRect">
            <a:avLst>
              <a:gd name="adj" fmla="val 7273"/>
            </a:avLst>
          </a:prstGeom>
          <a:noFill/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>
              <a:ea typeface="SOGANG UNIVERSITY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4956048" y="530947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latin typeface="서강체 TTF" pitchFamily="2" charset="-127"/>
                <a:ea typeface="서강체 TTF" pitchFamily="2" charset="-127"/>
              </a:rPr>
              <a:t>에피소드 보상 (Reward)</a:t>
            </a:r>
            <a:endParaRPr lang="en-US" sz="1400" dirty="0"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4956048" y="560208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A242C"/>
                </a:solidFill>
                <a:latin typeface="서강체 TTF" pitchFamily="2" charset="-127"/>
                <a:ea typeface="서강체 TTF" pitchFamily="2" charset="-127"/>
                <a:cs typeface="Courier New" pitchFamily="34" charset="-120"/>
              </a:rPr>
              <a:t>total_reward  →  rewards 배열</a:t>
            </a:r>
            <a:endParaRPr lang="en-US" sz="1200" dirty="0">
              <a:solidFill>
                <a:srgbClr val="DA242C"/>
              </a:solidFill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4956048" y="588387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서강체 TTF" pitchFamily="2" charset="-127"/>
                <a:ea typeface="서강체 TTF" pitchFamily="2" charset="-127"/>
              </a:rPr>
              <a:t>이동평균(window=100) 적용 후 시각화</a:t>
            </a:r>
          </a:p>
          <a:p>
            <a:r>
              <a:rPr lang="en-US" sz="1200" dirty="0">
                <a:latin typeface="서강체 TTF" pitchFamily="2" charset="-127"/>
                <a:ea typeface="서강체 TTF" pitchFamily="2" charset="-127"/>
              </a:rPr>
              <a:t>학습 곡선으로 수렴 속도 분석</a:t>
            </a:r>
          </a:p>
        </p:txBody>
      </p:sp>
    </p:spTree>
    <p:extLst>
      <p:ext uri="{BB962C8B-B14F-4D97-AF65-F5344CB8AC3E}">
        <p14:creationId xmlns:p14="http://schemas.microsoft.com/office/powerpoint/2010/main" val="2464628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92502-E764-E3CF-4171-9DE9A2587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D02DED1-BB58-2042-D2FE-15EF9FEA48D3}"/>
              </a:ext>
            </a:extLst>
          </p:cNvPr>
          <p:cNvSpPr/>
          <p:nvPr/>
        </p:nvSpPr>
        <p:spPr>
          <a:xfrm flipV="1">
            <a:off x="422559" y="1432881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E095E4-2720-8B5B-D083-97E444D65DD3}"/>
              </a:ext>
            </a:extLst>
          </p:cNvPr>
          <p:cNvSpPr txBox="1"/>
          <p:nvPr/>
        </p:nvSpPr>
        <p:spPr>
          <a:xfrm>
            <a:off x="422560" y="392790"/>
            <a:ext cx="8277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4. </a:t>
            </a:r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실험 셋업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07B2E7-BE2E-C4DB-B8B6-47DB4E9A782A}"/>
              </a:ext>
            </a:extLst>
          </p:cNvPr>
          <p:cNvSpPr txBox="1"/>
          <p:nvPr/>
        </p:nvSpPr>
        <p:spPr>
          <a:xfrm>
            <a:off x="422559" y="1846713"/>
            <a:ext cx="8332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코드 구조</a:t>
            </a:r>
            <a:endParaRPr lang="en-US" altLang="ko-KR" sz="2400" b="1" dirty="0">
              <a:latin typeface="서강체" pitchFamily="50" charset="-127"/>
              <a:ea typeface="서강체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557EA04-C2B0-733F-D2AF-BA1960E79E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27" name="Shape 8">
            <a:extLst>
              <a:ext uri="{FF2B5EF4-FFF2-40B4-BE49-F238E27FC236}">
                <a16:creationId xmlns:a16="http://schemas.microsoft.com/office/drawing/2014/main" id="{130EB17A-4292-E2C2-4AC4-C0C621BEE3D2}"/>
              </a:ext>
            </a:extLst>
          </p:cNvPr>
          <p:cNvSpPr/>
          <p:nvPr/>
        </p:nvSpPr>
        <p:spPr>
          <a:xfrm>
            <a:off x="2422354" y="3525591"/>
            <a:ext cx="276057" cy="322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57FCBB2F-2C4B-8CF2-DF91-0972E413BB85}"/>
              </a:ext>
            </a:extLst>
          </p:cNvPr>
          <p:cNvSpPr/>
          <p:nvPr/>
        </p:nvSpPr>
        <p:spPr>
          <a:xfrm>
            <a:off x="676993" y="2674620"/>
            <a:ext cx="1702944" cy="1508760"/>
          </a:xfrm>
          <a:prstGeom prst="roundRect">
            <a:avLst>
              <a:gd name="adj" fmla="val 3902"/>
            </a:avLst>
          </a:prstGeom>
          <a:noFill/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01064286-9979-246D-F9DD-722881D5C63C}"/>
              </a:ext>
            </a:extLst>
          </p:cNvPr>
          <p:cNvSpPr/>
          <p:nvPr/>
        </p:nvSpPr>
        <p:spPr>
          <a:xfrm>
            <a:off x="676993" y="2833353"/>
            <a:ext cx="1702944" cy="31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latin typeface="서강체 TTF" pitchFamily="2" charset="-127"/>
                <a:ea typeface="서강체 TTF" pitchFamily="2" charset="-127"/>
                <a:cs typeface="Noto Sans CJK KR" pitchFamily="34" charset="-120"/>
              </a:rPr>
              <a:t>환경 생성</a:t>
            </a:r>
            <a:endParaRPr lang="en-US" dirty="0"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D0BB100D-F0D9-57A7-7F97-A37065511BBC}"/>
              </a:ext>
            </a:extLst>
          </p:cNvPr>
          <p:cNvSpPr/>
          <p:nvPr/>
        </p:nvSpPr>
        <p:spPr>
          <a:xfrm>
            <a:off x="759289" y="3308985"/>
            <a:ext cx="158466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00" dirty="0">
                <a:solidFill>
                  <a:srgbClr val="334155"/>
                </a:solidFill>
                <a:latin typeface="서강체 TTF" pitchFamily="2" charset="-127"/>
                <a:ea typeface="서강체 TTF" pitchFamily="2" charset="-127"/>
                <a:cs typeface="Noto Sans CJK KR" pitchFamily="34" charset="-120"/>
              </a:rPr>
              <a:t>make_env</a:t>
            </a:r>
            <a:endParaRPr lang="en-US" sz="1200" dirty="0">
              <a:latin typeface="서강체 TTF" pitchFamily="2" charset="-127"/>
              <a:ea typeface="서강체 TTF" pitchFamily="2" charset="-127"/>
            </a:endParaRPr>
          </a:p>
          <a:p>
            <a:pPr algn="ctr"/>
            <a:r>
              <a:rPr lang="en-US" sz="1200" dirty="0">
                <a:solidFill>
                  <a:srgbClr val="334155"/>
                </a:solidFill>
                <a:latin typeface="서강체 TTF" pitchFamily="2" charset="-127"/>
                <a:ea typeface="서강체 TTF" pitchFamily="2" charset="-127"/>
                <a:cs typeface="Noto Sans CJK KR" pitchFamily="34" charset="-120"/>
              </a:rPr>
              <a:t>reset_env</a:t>
            </a:r>
            <a:endParaRPr lang="en-US" sz="1200" dirty="0">
              <a:latin typeface="서강체 TTF" pitchFamily="2" charset="-127"/>
              <a:ea typeface="서강체 TTF" pitchFamily="2" charset="-127"/>
            </a:endParaRPr>
          </a:p>
          <a:p>
            <a:pPr algn="ctr"/>
            <a:r>
              <a:rPr lang="en-US" sz="1200" dirty="0">
                <a:solidFill>
                  <a:srgbClr val="334155"/>
                </a:solidFill>
                <a:latin typeface="서강체 TTF" pitchFamily="2" charset="-127"/>
                <a:ea typeface="서강체 TTF" pitchFamily="2" charset="-127"/>
                <a:cs typeface="Noto Sans CJK KR" pitchFamily="34" charset="-120"/>
              </a:rPr>
              <a:t>step_env</a:t>
            </a:r>
            <a:endParaRPr lang="en-US" sz="1200" dirty="0"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3B510A38-62A0-B4A2-977B-A863636A5B43}"/>
              </a:ext>
            </a:extLst>
          </p:cNvPr>
          <p:cNvSpPr/>
          <p:nvPr/>
        </p:nvSpPr>
        <p:spPr>
          <a:xfrm>
            <a:off x="2734393" y="2674620"/>
            <a:ext cx="1702944" cy="1508760"/>
          </a:xfrm>
          <a:prstGeom prst="roundRect">
            <a:avLst>
              <a:gd name="adj" fmla="val 3902"/>
            </a:avLst>
          </a:prstGeom>
          <a:noFill/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70BD4C31-2723-476B-625F-A0E2188568DC}"/>
              </a:ext>
            </a:extLst>
          </p:cNvPr>
          <p:cNvSpPr/>
          <p:nvPr/>
        </p:nvSpPr>
        <p:spPr>
          <a:xfrm>
            <a:off x="2734393" y="2833353"/>
            <a:ext cx="1702944" cy="31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latin typeface="서강체 TTF" pitchFamily="2" charset="-127"/>
                <a:ea typeface="서강체 TTF" pitchFamily="2" charset="-127"/>
                <a:cs typeface="Noto Sans CJK KR" pitchFamily="34" charset="-120"/>
              </a:rPr>
              <a:t>에이전트</a:t>
            </a:r>
            <a:endParaRPr lang="en-US" dirty="0"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97A85E16-38B2-8344-3AE3-EF79704ABB3B}"/>
              </a:ext>
            </a:extLst>
          </p:cNvPr>
          <p:cNvSpPr/>
          <p:nvPr/>
        </p:nvSpPr>
        <p:spPr>
          <a:xfrm>
            <a:off x="2816689" y="3308985"/>
            <a:ext cx="158466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00" dirty="0">
                <a:solidFill>
                  <a:srgbClr val="334155"/>
                </a:solidFill>
                <a:latin typeface="서강체 TTF" pitchFamily="2" charset="-127"/>
                <a:ea typeface="서강체 TTF" pitchFamily="2" charset="-127"/>
                <a:cs typeface="Noto Sans CJK KR" pitchFamily="34" charset="-120"/>
              </a:rPr>
              <a:t>make_agent</a:t>
            </a:r>
            <a:endParaRPr lang="en-US" sz="1200" dirty="0">
              <a:latin typeface="서강체 TTF" pitchFamily="2" charset="-127"/>
              <a:ea typeface="서강체 TTF" pitchFamily="2" charset="-127"/>
            </a:endParaRPr>
          </a:p>
          <a:p>
            <a:pPr algn="ctr"/>
            <a:r>
              <a:rPr lang="en-US" sz="1200" dirty="0">
                <a:solidFill>
                  <a:srgbClr val="334155"/>
                </a:solidFill>
                <a:latin typeface="서강체 TTF" pitchFamily="2" charset="-127"/>
                <a:ea typeface="서강체 TTF" pitchFamily="2" charset="-127"/>
                <a:cs typeface="Noto Sans CJK KR" pitchFamily="34" charset="-120"/>
              </a:rPr>
              <a:t>choose_action</a:t>
            </a:r>
            <a:endParaRPr lang="en-US" sz="1200" dirty="0">
              <a:latin typeface="서강체 TTF" pitchFamily="2" charset="-127"/>
              <a:ea typeface="서강체 TTF" pitchFamily="2" charset="-127"/>
            </a:endParaRPr>
          </a:p>
          <a:p>
            <a:pPr algn="ctr"/>
            <a:r>
              <a:rPr lang="en-US" sz="1200" dirty="0">
                <a:solidFill>
                  <a:srgbClr val="334155"/>
                </a:solidFill>
                <a:latin typeface="서강체 TTF" pitchFamily="2" charset="-127"/>
                <a:ea typeface="서강체 TTF" pitchFamily="2" charset="-127"/>
                <a:cs typeface="Noto Sans CJK KR" pitchFamily="34" charset="-120"/>
              </a:rPr>
              <a:t>decay_epsilon</a:t>
            </a:r>
            <a:endParaRPr lang="en-US" sz="1200" dirty="0"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8FEF0067-1625-3684-6666-250A7B46FBD1}"/>
              </a:ext>
            </a:extLst>
          </p:cNvPr>
          <p:cNvSpPr/>
          <p:nvPr/>
        </p:nvSpPr>
        <p:spPr>
          <a:xfrm>
            <a:off x="4791793" y="2674620"/>
            <a:ext cx="1702944" cy="1508760"/>
          </a:xfrm>
          <a:prstGeom prst="roundRect">
            <a:avLst>
              <a:gd name="adj" fmla="val 3902"/>
            </a:avLst>
          </a:prstGeom>
          <a:noFill/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30C66188-181E-2A1B-1639-2A3C45197869}"/>
              </a:ext>
            </a:extLst>
          </p:cNvPr>
          <p:cNvSpPr/>
          <p:nvPr/>
        </p:nvSpPr>
        <p:spPr>
          <a:xfrm>
            <a:off x="4791793" y="2833353"/>
            <a:ext cx="1702944" cy="31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latin typeface="서강체 TTF" pitchFamily="2" charset="-127"/>
                <a:ea typeface="서강체 TTF" pitchFamily="2" charset="-127"/>
                <a:cs typeface="Noto Sans CJK KR" pitchFamily="34" charset="-120"/>
              </a:rPr>
              <a:t>학습 루프</a:t>
            </a:r>
            <a:endParaRPr lang="en-US" dirty="0"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81651B64-9E18-529F-ADA8-E003A1361940}"/>
              </a:ext>
            </a:extLst>
          </p:cNvPr>
          <p:cNvSpPr/>
          <p:nvPr/>
        </p:nvSpPr>
        <p:spPr>
          <a:xfrm>
            <a:off x="4874089" y="3308985"/>
            <a:ext cx="158466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334155"/>
                </a:solidFill>
                <a:latin typeface="서강체 TTF" pitchFamily="2" charset="-127"/>
                <a:ea typeface="서강체 TTF" pitchFamily="2" charset="-127"/>
                <a:cs typeface="Noto Sans CJK KR" pitchFamily="34" charset="-120"/>
              </a:rPr>
              <a:t>run_episode</a:t>
            </a:r>
            <a:endParaRPr lang="en-US" sz="1200" dirty="0">
              <a:latin typeface="서강체 TTF" pitchFamily="2" charset="-127"/>
              <a:ea typeface="서강체 TTF" pitchFamily="2" charset="-127"/>
            </a:endParaRPr>
          </a:p>
          <a:p>
            <a:pPr algn="ctr"/>
            <a:r>
              <a:rPr lang="en-US" sz="1200" dirty="0">
                <a:solidFill>
                  <a:srgbClr val="334155"/>
                </a:solidFill>
                <a:latin typeface="서강체 TTF" pitchFamily="2" charset="-127"/>
                <a:ea typeface="서강체 TTF" pitchFamily="2" charset="-127"/>
                <a:cs typeface="Noto Sans CJK KR" pitchFamily="34" charset="-120"/>
              </a:rPr>
              <a:t>train_single_agent</a:t>
            </a:r>
            <a:endParaRPr lang="en-US" sz="1200" dirty="0">
              <a:latin typeface="서강체 TTF" pitchFamily="2" charset="-127"/>
              <a:ea typeface="서강체 TTF" pitchFamily="2" charset="-127"/>
            </a:endParaRPr>
          </a:p>
          <a:p>
            <a:pPr algn="ctr"/>
            <a:r>
              <a:rPr lang="en-US" sz="1200" dirty="0">
                <a:solidFill>
                  <a:srgbClr val="334155"/>
                </a:solidFill>
                <a:latin typeface="서강체 TTF" pitchFamily="2" charset="-127"/>
                <a:ea typeface="서강체 TTF" pitchFamily="2" charset="-127"/>
                <a:cs typeface="Noto Sans CJK KR" pitchFamily="34" charset="-120"/>
              </a:rPr>
              <a:t>run_all_experiments</a:t>
            </a:r>
            <a:endParaRPr lang="en-US" sz="1200" dirty="0"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C647F7D9-2C59-652A-10A4-CBBDE56B52A3}"/>
              </a:ext>
            </a:extLst>
          </p:cNvPr>
          <p:cNvSpPr/>
          <p:nvPr/>
        </p:nvSpPr>
        <p:spPr>
          <a:xfrm>
            <a:off x="6849193" y="2674620"/>
            <a:ext cx="1702944" cy="1508760"/>
          </a:xfrm>
          <a:prstGeom prst="roundRect">
            <a:avLst>
              <a:gd name="adj" fmla="val 3902"/>
            </a:avLst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E6128927-18A5-D0B8-41C6-AC557FE84077}"/>
              </a:ext>
            </a:extLst>
          </p:cNvPr>
          <p:cNvSpPr/>
          <p:nvPr/>
        </p:nvSpPr>
        <p:spPr>
          <a:xfrm>
            <a:off x="6849193" y="2833353"/>
            <a:ext cx="1702944" cy="31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latin typeface="서강체 TTF" pitchFamily="2" charset="-127"/>
                <a:ea typeface="서강체 TTF" pitchFamily="2" charset="-127"/>
                <a:cs typeface="Noto Sans CJK KR" pitchFamily="34" charset="-120"/>
              </a:rPr>
              <a:t>시각화</a:t>
            </a:r>
            <a:endParaRPr lang="en-US" dirty="0"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B40288B3-1F24-43A0-88FD-A2EE6226F2BD}"/>
              </a:ext>
            </a:extLst>
          </p:cNvPr>
          <p:cNvSpPr/>
          <p:nvPr/>
        </p:nvSpPr>
        <p:spPr>
          <a:xfrm>
            <a:off x="6931489" y="3308985"/>
            <a:ext cx="158466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334155"/>
                </a:solidFill>
                <a:latin typeface="서강체 TTF" pitchFamily="2" charset="-127"/>
                <a:ea typeface="서강체 TTF" pitchFamily="2" charset="-127"/>
                <a:cs typeface="Noto Sans CJK KR" pitchFamily="34" charset="-120"/>
              </a:rPr>
              <a:t>plot_learning_curves</a:t>
            </a:r>
            <a:endParaRPr lang="en-US" sz="1200" dirty="0">
              <a:latin typeface="서강체 TTF" pitchFamily="2" charset="-127"/>
              <a:ea typeface="서강체 TTF" pitchFamily="2" charset="-127"/>
            </a:endParaRPr>
          </a:p>
          <a:p>
            <a:pPr algn="ctr"/>
            <a:r>
              <a:rPr lang="en-US" sz="1200" dirty="0">
                <a:solidFill>
                  <a:srgbClr val="334155"/>
                </a:solidFill>
                <a:latin typeface="서강체 TTF" pitchFamily="2" charset="-127"/>
                <a:ea typeface="서강체 TTF" pitchFamily="2" charset="-127"/>
                <a:cs typeface="Noto Sans CJK KR" pitchFamily="34" charset="-120"/>
              </a:rPr>
              <a:t>bar_chart</a:t>
            </a:r>
            <a:endParaRPr lang="en-US" sz="1200" dirty="0">
              <a:latin typeface="서강체 TTF" pitchFamily="2" charset="-127"/>
              <a:ea typeface="서강체 TTF" pitchFamily="2" charset="-127"/>
            </a:endParaRPr>
          </a:p>
          <a:p>
            <a:pPr algn="ctr"/>
            <a:r>
              <a:rPr lang="en-US" sz="1200" dirty="0">
                <a:solidFill>
                  <a:srgbClr val="334155"/>
                </a:solidFill>
                <a:latin typeface="서강체 TTF" pitchFamily="2" charset="-127"/>
                <a:ea typeface="서강체 TTF" pitchFamily="2" charset="-127"/>
                <a:cs typeface="Noto Sans CJK KR" pitchFamily="34" charset="-120"/>
              </a:rPr>
              <a:t>evaluate_with_render</a:t>
            </a:r>
            <a:endParaRPr lang="en-US" sz="1200" dirty="0"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06AF54D5-6FDD-7E64-0780-945E2225E10E}"/>
              </a:ext>
            </a:extLst>
          </p:cNvPr>
          <p:cNvSpPr/>
          <p:nvPr/>
        </p:nvSpPr>
        <p:spPr>
          <a:xfrm>
            <a:off x="4451015" y="3525591"/>
            <a:ext cx="276057" cy="322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 sz="1350"/>
          </a:p>
        </p:txBody>
      </p:sp>
      <p:sp>
        <p:nvSpPr>
          <p:cNvPr id="41" name="Shape 8">
            <a:extLst>
              <a:ext uri="{FF2B5EF4-FFF2-40B4-BE49-F238E27FC236}">
                <a16:creationId xmlns:a16="http://schemas.microsoft.com/office/drawing/2014/main" id="{E00FBC2A-2CBF-AE01-80FC-C5898BDC6B04}"/>
              </a:ext>
            </a:extLst>
          </p:cNvPr>
          <p:cNvSpPr/>
          <p:nvPr/>
        </p:nvSpPr>
        <p:spPr>
          <a:xfrm>
            <a:off x="6533936" y="3522371"/>
            <a:ext cx="276057" cy="322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 sz="1350"/>
          </a:p>
        </p:txBody>
      </p:sp>
    </p:spTree>
    <p:extLst>
      <p:ext uri="{BB962C8B-B14F-4D97-AF65-F5344CB8AC3E}">
        <p14:creationId xmlns:p14="http://schemas.microsoft.com/office/powerpoint/2010/main" val="2746163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ACE7B-F689-0358-A8E3-0FE271F18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C51E168-9360-6152-395C-4AD501DEDD68}"/>
              </a:ext>
            </a:extLst>
          </p:cNvPr>
          <p:cNvSpPr/>
          <p:nvPr/>
        </p:nvSpPr>
        <p:spPr>
          <a:xfrm flipV="1">
            <a:off x="422559" y="1432881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1D9C13-AAE5-731B-B78F-64765A009E3E}"/>
              </a:ext>
            </a:extLst>
          </p:cNvPr>
          <p:cNvSpPr txBox="1"/>
          <p:nvPr/>
        </p:nvSpPr>
        <p:spPr>
          <a:xfrm>
            <a:off x="422560" y="392790"/>
            <a:ext cx="8277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5. </a:t>
            </a:r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실험 결과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FDBA9E-F5A9-8A3D-9434-AACE0A3AC9C4}"/>
              </a:ext>
            </a:extLst>
          </p:cNvPr>
          <p:cNvSpPr txBox="1"/>
          <p:nvPr/>
        </p:nvSpPr>
        <p:spPr>
          <a:xfrm>
            <a:off x="422558" y="1846713"/>
            <a:ext cx="8344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에피소드 별 총 보상 변화</a:t>
            </a:r>
            <a:endParaRPr lang="en-US" altLang="ko-KR" sz="2400" b="1" dirty="0">
              <a:latin typeface="서강체" pitchFamily="50" charset="-127"/>
              <a:ea typeface="서강체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31882F3-AE80-7157-9590-BF3D7FF522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85E6F0B-3925-2619-5DA3-B5C43E62E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47" y="2335810"/>
            <a:ext cx="7793813" cy="2292298"/>
          </a:xfrm>
          <a:prstGeom prst="rect">
            <a:avLst/>
          </a:prstGeo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108796C8-2227-A91A-72CB-C83863895608}"/>
              </a:ext>
            </a:extLst>
          </p:cNvPr>
          <p:cNvSpPr/>
          <p:nvPr/>
        </p:nvSpPr>
        <p:spPr>
          <a:xfrm>
            <a:off x="422558" y="4794820"/>
            <a:ext cx="2670048" cy="1514470"/>
          </a:xfrm>
          <a:prstGeom prst="roundRect">
            <a:avLst>
              <a:gd name="adj" fmla="val 3721"/>
            </a:avLst>
          </a:prstGeom>
          <a:noFill/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F56AF62D-3E37-5F4E-BD7F-298B085BE0BB}"/>
              </a:ext>
            </a:extLst>
          </p:cNvPr>
          <p:cNvSpPr/>
          <p:nvPr/>
        </p:nvSpPr>
        <p:spPr>
          <a:xfrm>
            <a:off x="532286" y="485882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서강체 TTF" pitchFamily="2" charset="-127"/>
                <a:ea typeface="서강체 TTF" pitchFamily="2" charset="-127"/>
              </a:rPr>
              <a:t>No Fuel Limit</a:t>
            </a:r>
            <a:endParaRPr lang="en-US" sz="1600" dirty="0"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7EE882D-B239-A6AC-6008-81309FD7FDB6}"/>
              </a:ext>
            </a:extLst>
          </p:cNvPr>
          <p:cNvSpPr/>
          <p:nvPr/>
        </p:nvSpPr>
        <p:spPr>
          <a:xfrm>
            <a:off x="559718" y="5206300"/>
            <a:ext cx="2377440" cy="0"/>
          </a:xfrm>
          <a:prstGeom prst="line">
            <a:avLst/>
          </a:prstGeom>
          <a:noFill/>
          <a:ln w="762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D8A5761-1146-598C-8280-8468BACE60B5}"/>
              </a:ext>
            </a:extLst>
          </p:cNvPr>
          <p:cNvSpPr/>
          <p:nvPr/>
        </p:nvSpPr>
        <p:spPr>
          <a:xfrm>
            <a:off x="559718" y="5288596"/>
            <a:ext cx="2423160" cy="85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75569"/>
                </a:solidFill>
                <a:latin typeface="서강체 TTF" pitchFamily="2" charset="-127"/>
                <a:ea typeface="서강체 TTF" pitchFamily="2" charset="-127"/>
              </a:rPr>
              <a:t>episode ~855부터 수렴</a:t>
            </a:r>
            <a:endParaRPr lang="en-US" sz="1400" dirty="0">
              <a:latin typeface="서강체 TTF" pitchFamily="2" charset="-127"/>
              <a:ea typeface="서강체 TTF" pitchFamily="2" charset="-127"/>
            </a:endParaRPr>
          </a:p>
          <a:p>
            <a:r>
              <a:rPr lang="en-US" sz="1400" dirty="0">
                <a:solidFill>
                  <a:srgbClr val="475569"/>
                </a:solidFill>
                <a:latin typeface="서강체 TTF" pitchFamily="2" charset="-127"/>
                <a:ea typeface="서강체 TTF" pitchFamily="2" charset="-127"/>
              </a:rPr>
              <a:t>(보상 &gt; −20 최초 도달)</a:t>
            </a:r>
            <a:endParaRPr lang="en-US" sz="1400" dirty="0">
              <a:latin typeface="서강체 TTF" pitchFamily="2" charset="-127"/>
              <a:ea typeface="서강체 TTF" pitchFamily="2" charset="-127"/>
            </a:endParaRPr>
          </a:p>
          <a:p>
            <a:r>
              <a:rPr lang="en-US" sz="1400" dirty="0">
                <a:solidFill>
                  <a:srgbClr val="475569"/>
                </a:solidFill>
                <a:latin typeface="서강체 TTF" pitchFamily="2" charset="-127"/>
                <a:ea typeface="서강체 TTF" pitchFamily="2" charset="-127"/>
              </a:rPr>
              <a:t>Q-Learning·SARSA 거의 동일</a:t>
            </a:r>
            <a:endParaRPr lang="en-US" sz="1400" dirty="0"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C1778DE5-7CE0-C06F-6FFA-FE92E6818B59}"/>
              </a:ext>
            </a:extLst>
          </p:cNvPr>
          <p:cNvSpPr/>
          <p:nvPr/>
        </p:nvSpPr>
        <p:spPr>
          <a:xfrm>
            <a:off x="3257198" y="4794820"/>
            <a:ext cx="2670048" cy="1514470"/>
          </a:xfrm>
          <a:prstGeom prst="roundRect">
            <a:avLst>
              <a:gd name="adj" fmla="val 3721"/>
            </a:avLst>
          </a:prstGeom>
          <a:noFill/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341A963D-C309-D117-328D-11C4108B1F32}"/>
              </a:ext>
            </a:extLst>
          </p:cNvPr>
          <p:cNvSpPr/>
          <p:nvPr/>
        </p:nvSpPr>
        <p:spPr>
          <a:xfrm>
            <a:off x="3366926" y="485882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서강체 TTF" pitchFamily="2" charset="-127"/>
                <a:ea typeface="서강체 TTF" pitchFamily="2" charset="-127"/>
              </a:rPr>
              <a:t>Generous (max=50)</a:t>
            </a:r>
            <a:endParaRPr lang="en-US" sz="1600" dirty="0"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59F8633-8F23-3BC4-43D5-15799B521D7C}"/>
              </a:ext>
            </a:extLst>
          </p:cNvPr>
          <p:cNvSpPr/>
          <p:nvPr/>
        </p:nvSpPr>
        <p:spPr>
          <a:xfrm>
            <a:off x="3394358" y="5206300"/>
            <a:ext cx="2377440" cy="0"/>
          </a:xfrm>
          <a:prstGeom prst="line">
            <a:avLst/>
          </a:prstGeom>
          <a:noFill/>
          <a:ln w="762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8E31CBDA-40ED-A8BF-127A-81DA830F689A}"/>
              </a:ext>
            </a:extLst>
          </p:cNvPr>
          <p:cNvSpPr/>
          <p:nvPr/>
        </p:nvSpPr>
        <p:spPr>
          <a:xfrm>
            <a:off x="3394358" y="5288596"/>
            <a:ext cx="2423160" cy="85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75569"/>
                </a:solidFill>
                <a:latin typeface="서강체 TTF" pitchFamily="2" charset="-127"/>
                <a:ea typeface="서강체 TTF" pitchFamily="2" charset="-127"/>
              </a:rPr>
              <a:t>보상이 −450 → −120 수준으로</a:t>
            </a:r>
            <a:endParaRPr lang="en-US" sz="1400" dirty="0">
              <a:latin typeface="서강체 TTF" pitchFamily="2" charset="-127"/>
              <a:ea typeface="서강체 TTF" pitchFamily="2" charset="-127"/>
            </a:endParaRPr>
          </a:p>
          <a:p>
            <a:r>
              <a:rPr lang="en-US" sz="1400" dirty="0">
                <a:solidFill>
                  <a:srgbClr val="475569"/>
                </a:solidFill>
                <a:latin typeface="서강체 TTF" pitchFamily="2" charset="-127"/>
                <a:ea typeface="서강체 TTF" pitchFamily="2" charset="-127"/>
              </a:rPr>
              <a:t>개선되나 5,000 에피소드 내</a:t>
            </a:r>
            <a:endParaRPr lang="en-US" sz="1400" dirty="0">
              <a:latin typeface="서강체 TTF" pitchFamily="2" charset="-127"/>
              <a:ea typeface="서강체 TTF" pitchFamily="2" charset="-127"/>
            </a:endParaRPr>
          </a:p>
          <a:p>
            <a:r>
              <a:rPr lang="en-US" sz="1400" dirty="0">
                <a:solidFill>
                  <a:srgbClr val="475569"/>
                </a:solidFill>
                <a:latin typeface="서강체 TTF" pitchFamily="2" charset="-127"/>
                <a:ea typeface="서강체 TTF" pitchFamily="2" charset="-127"/>
              </a:rPr>
              <a:t>성공 수렴 미달</a:t>
            </a:r>
            <a:endParaRPr lang="en-US" sz="1400" dirty="0"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E37D0C18-025B-F640-3A52-ECB88734BB07}"/>
              </a:ext>
            </a:extLst>
          </p:cNvPr>
          <p:cNvSpPr/>
          <p:nvPr/>
        </p:nvSpPr>
        <p:spPr>
          <a:xfrm>
            <a:off x="6091838" y="4794820"/>
            <a:ext cx="2670048" cy="1514470"/>
          </a:xfrm>
          <a:prstGeom prst="roundRect">
            <a:avLst>
              <a:gd name="adj" fmla="val 3721"/>
            </a:avLst>
          </a:prstGeom>
          <a:noFill/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BD96381E-E7E2-D40B-C116-22BEDCC67688}"/>
              </a:ext>
            </a:extLst>
          </p:cNvPr>
          <p:cNvSpPr/>
          <p:nvPr/>
        </p:nvSpPr>
        <p:spPr>
          <a:xfrm>
            <a:off x="6201566" y="485882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서강체 TTF" pitchFamily="2" charset="-127"/>
                <a:ea typeface="서강체 TTF" pitchFamily="2" charset="-127"/>
              </a:rPr>
              <a:t>Tight (max=30)</a:t>
            </a:r>
            <a:endParaRPr lang="en-US" sz="1600" dirty="0">
              <a:latin typeface="서강체 TTF" pitchFamily="2" charset="-127"/>
              <a:ea typeface="서강체 TTF" pitchFamily="2" charset="-127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DA88705D-4059-E1E9-0269-AC73E7BEA367}"/>
              </a:ext>
            </a:extLst>
          </p:cNvPr>
          <p:cNvSpPr/>
          <p:nvPr/>
        </p:nvSpPr>
        <p:spPr>
          <a:xfrm>
            <a:off x="6228998" y="5206300"/>
            <a:ext cx="2377440" cy="0"/>
          </a:xfrm>
          <a:prstGeom prst="line">
            <a:avLst/>
          </a:prstGeom>
          <a:noFill/>
          <a:ln w="762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6B9387E0-CC2C-0FB5-4B04-13A5B2CB5F90}"/>
              </a:ext>
            </a:extLst>
          </p:cNvPr>
          <p:cNvSpPr/>
          <p:nvPr/>
        </p:nvSpPr>
        <p:spPr>
          <a:xfrm>
            <a:off x="6228998" y="5288596"/>
            <a:ext cx="2423160" cy="85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75569"/>
                </a:solidFill>
                <a:latin typeface="서강체 TTF" pitchFamily="2" charset="-127"/>
                <a:ea typeface="서강체 TTF" pitchFamily="2" charset="-127"/>
              </a:rPr>
              <a:t>보상이 −300 → −100 수준으로</a:t>
            </a:r>
            <a:endParaRPr lang="en-US" sz="1400" dirty="0">
              <a:latin typeface="서강체 TTF" pitchFamily="2" charset="-127"/>
              <a:ea typeface="서강체 TTF" pitchFamily="2" charset="-127"/>
            </a:endParaRPr>
          </a:p>
          <a:p>
            <a:r>
              <a:rPr lang="en-US" sz="1400" dirty="0">
                <a:solidFill>
                  <a:srgbClr val="475569"/>
                </a:solidFill>
                <a:latin typeface="서강체 TTF" pitchFamily="2" charset="-127"/>
                <a:ea typeface="서강체 TTF" pitchFamily="2" charset="-127"/>
              </a:rPr>
              <a:t>개선되나 성공에 필요한</a:t>
            </a:r>
            <a:endParaRPr lang="en-US" sz="1400" dirty="0">
              <a:latin typeface="서강체 TTF" pitchFamily="2" charset="-127"/>
              <a:ea typeface="서강체 TTF" pitchFamily="2" charset="-127"/>
            </a:endParaRPr>
          </a:p>
          <a:p>
            <a:r>
              <a:rPr lang="en-US" sz="1400" dirty="0">
                <a:solidFill>
                  <a:srgbClr val="475569"/>
                </a:solidFill>
                <a:latin typeface="서강체 TTF" pitchFamily="2" charset="-127"/>
                <a:ea typeface="서강체 TTF" pitchFamily="2" charset="-127"/>
              </a:rPr>
              <a:t>보상 수준 미달</a:t>
            </a:r>
            <a:endParaRPr lang="en-US" sz="1400" dirty="0">
              <a:latin typeface="서강체 TTF" pitchFamily="2" charset="-127"/>
              <a:ea typeface="서강체 TTF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8486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80038-E319-AF2D-0749-C92D42B02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3EEF82C-464B-ECA6-4E2D-C314E5D61359}"/>
              </a:ext>
            </a:extLst>
          </p:cNvPr>
          <p:cNvSpPr/>
          <p:nvPr/>
        </p:nvSpPr>
        <p:spPr>
          <a:xfrm flipV="1">
            <a:off x="422559" y="1432881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E0EC6A-C31F-1E12-DA9F-307FBC8F0B74}"/>
              </a:ext>
            </a:extLst>
          </p:cNvPr>
          <p:cNvSpPr txBox="1"/>
          <p:nvPr/>
        </p:nvSpPr>
        <p:spPr>
          <a:xfrm>
            <a:off x="422560" y="392790"/>
            <a:ext cx="8277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5. </a:t>
            </a:r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실험 결과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77B3E1-E174-71EF-0214-01F484270FCD}"/>
              </a:ext>
            </a:extLst>
          </p:cNvPr>
          <p:cNvSpPr txBox="1"/>
          <p:nvPr/>
        </p:nvSpPr>
        <p:spPr>
          <a:xfrm>
            <a:off x="422558" y="1846713"/>
            <a:ext cx="8400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학습 진행에 따른 성공률 변화</a:t>
            </a:r>
            <a:endParaRPr lang="en-US" altLang="ko-KR" sz="2400" b="1" dirty="0">
              <a:latin typeface="서강체" pitchFamily="50" charset="-127"/>
              <a:ea typeface="서강체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70B233C-6368-5ACB-9F90-34DAF7EFEE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17AEA80-2402-0CDB-0C93-921914F83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08332"/>
            <a:ext cx="9144000" cy="24337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661AD9-43E2-885F-A050-5F07698FA8D4}"/>
              </a:ext>
            </a:extLst>
          </p:cNvPr>
          <p:cNvSpPr txBox="1"/>
          <p:nvPr/>
        </p:nvSpPr>
        <p:spPr>
          <a:xfrm>
            <a:off x="607418" y="5556621"/>
            <a:ext cx="81600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연료가 충분하면 제약이 성능 저하를 거의 만들지 않음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연료 제약이 강하면 탐색 실패 또는 주유 전략 부족 발생</a:t>
            </a:r>
            <a:endParaRPr lang="en-US" altLang="ko-KR" sz="2000" dirty="0">
              <a:latin typeface="서강체" pitchFamily="50" charset="-127"/>
              <a:ea typeface="서강체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2292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1CF14-A825-1EEC-5480-67EB08B9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71E50B50-23AA-812F-E153-101D3FE6C1FA}"/>
              </a:ext>
            </a:extLst>
          </p:cNvPr>
          <p:cNvSpPr/>
          <p:nvPr/>
        </p:nvSpPr>
        <p:spPr>
          <a:xfrm flipV="1">
            <a:off x="422559" y="1432881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391F8C-9FB4-BAD7-A435-3DFD395DE394}"/>
              </a:ext>
            </a:extLst>
          </p:cNvPr>
          <p:cNvSpPr txBox="1"/>
          <p:nvPr/>
        </p:nvSpPr>
        <p:spPr>
          <a:xfrm>
            <a:off x="422560" y="392790"/>
            <a:ext cx="8277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5. </a:t>
            </a:r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실험 결과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4415D2-21A8-C3DB-438C-BC0D083EBD9E}"/>
              </a:ext>
            </a:extLst>
          </p:cNvPr>
          <p:cNvSpPr txBox="1"/>
          <p:nvPr/>
        </p:nvSpPr>
        <p:spPr>
          <a:xfrm>
            <a:off x="422558" y="1846713"/>
            <a:ext cx="8344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마지막 </a:t>
            </a:r>
            <a:r>
              <a:rPr lang="en-US" altLang="ko-KR" sz="2400" b="1" dirty="0">
                <a:latin typeface="서강체" pitchFamily="50" charset="-127"/>
                <a:ea typeface="서강체" pitchFamily="50" charset="-127"/>
              </a:rPr>
              <a:t>5000 </a:t>
            </a:r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에피소드 평균 성공률</a:t>
            </a:r>
            <a:endParaRPr lang="en-US" altLang="ko-KR" sz="2400" b="1" dirty="0">
              <a:latin typeface="서강체" pitchFamily="50" charset="-127"/>
              <a:ea typeface="서강체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49BB409-E5CE-E7C7-10C1-A142D5A019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525959F-FC16-1DCB-060E-80A91CBB3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794" y="2459443"/>
            <a:ext cx="5145110" cy="282400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68DCD50-8900-483A-D692-67673F799DAC}"/>
              </a:ext>
            </a:extLst>
          </p:cNvPr>
          <p:cNvSpPr txBox="1"/>
          <p:nvPr/>
        </p:nvSpPr>
        <p:spPr>
          <a:xfrm>
            <a:off x="607418" y="5556621"/>
            <a:ext cx="81600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연료 </a:t>
            </a: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state </a:t>
            </a: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추가로 상태 공간이 </a:t>
            </a: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500 → 25,500</a:t>
            </a: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으로 확장됨</a:t>
            </a: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Q-table </a:t>
            </a: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기반 알고리즘은 </a:t>
            </a: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5,000 </a:t>
            </a: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에피소드 내 충분한 탐색이 어려워 수렴 실패</a:t>
            </a: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7649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5CE20-EE4C-5EDF-89F8-54E0000EE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59D28758-2B02-2237-9C1F-56F69DA2F59A}"/>
              </a:ext>
            </a:extLst>
          </p:cNvPr>
          <p:cNvSpPr/>
          <p:nvPr/>
        </p:nvSpPr>
        <p:spPr>
          <a:xfrm flipV="1">
            <a:off x="422559" y="1432881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D8CA1B-7AA0-D91A-286C-079ECB0C71DF}"/>
              </a:ext>
            </a:extLst>
          </p:cNvPr>
          <p:cNvSpPr txBox="1"/>
          <p:nvPr/>
        </p:nvSpPr>
        <p:spPr>
          <a:xfrm>
            <a:off x="422560" y="392790"/>
            <a:ext cx="8277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5. </a:t>
            </a:r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실험 결과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459E10-1398-5C0D-E585-225ACBA84244}"/>
              </a:ext>
            </a:extLst>
          </p:cNvPr>
          <p:cNvSpPr txBox="1"/>
          <p:nvPr/>
        </p:nvSpPr>
        <p:spPr>
          <a:xfrm>
            <a:off x="422558" y="1846713"/>
            <a:ext cx="8344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성공 에피소드의 평균 </a:t>
            </a:r>
            <a:r>
              <a:rPr lang="en-US" altLang="ko-KR" sz="2400" b="1" dirty="0">
                <a:latin typeface="서강체" pitchFamily="50" charset="-127"/>
                <a:ea typeface="서강체" pitchFamily="50" charset="-127"/>
              </a:rPr>
              <a:t>step </a:t>
            </a:r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비교</a:t>
            </a:r>
            <a:endParaRPr lang="en-US" altLang="ko-KR" sz="2400" b="1" dirty="0">
              <a:latin typeface="서강체" pitchFamily="50" charset="-127"/>
              <a:ea typeface="서강체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BB2279A-F87A-4089-9868-6831E1ED7C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F2AFE85-B8EB-01D2-B841-C6B1B8A3D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859" y="2518691"/>
            <a:ext cx="5086674" cy="27919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264A7A-F600-B037-A4B8-91E4B5E6A403}"/>
              </a:ext>
            </a:extLst>
          </p:cNvPr>
          <p:cNvSpPr txBox="1"/>
          <p:nvPr/>
        </p:nvSpPr>
        <p:spPr>
          <a:xfrm>
            <a:off x="607418" y="5556621"/>
            <a:ext cx="81600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tight </a:t>
            </a: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성공 </a:t>
            </a: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episode</a:t>
            </a: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의 </a:t>
            </a:r>
            <a:r>
              <a:rPr lang="en-US" altLang="ko-KR" sz="2000" dirty="0">
                <a:latin typeface="서강체" pitchFamily="50" charset="-127"/>
                <a:ea typeface="서강체" pitchFamily="50" charset="-127"/>
              </a:rPr>
              <a:t>step </a:t>
            </a: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감소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서강체" pitchFamily="50" charset="-127"/>
                <a:ea typeface="서강체" pitchFamily="50" charset="-127"/>
              </a:rPr>
              <a:t>성공한 경우에는 더 효율적인 경로를 학습했을 가능성</a:t>
            </a:r>
            <a:endParaRPr lang="en-US" altLang="ko-KR" sz="2000" dirty="0">
              <a:latin typeface="서강체" pitchFamily="50" charset="-127"/>
              <a:ea typeface="서강체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7433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A5E6D-C6DF-173E-02C4-2A1FF9DEC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A6BB6F21-695B-2C0E-0879-87C27856C047}"/>
              </a:ext>
            </a:extLst>
          </p:cNvPr>
          <p:cNvSpPr/>
          <p:nvPr/>
        </p:nvSpPr>
        <p:spPr>
          <a:xfrm flipV="1">
            <a:off x="422559" y="1432881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938C97-F8E0-812A-1068-CA8805538FF5}"/>
              </a:ext>
            </a:extLst>
          </p:cNvPr>
          <p:cNvSpPr txBox="1"/>
          <p:nvPr/>
        </p:nvSpPr>
        <p:spPr>
          <a:xfrm>
            <a:off x="422560" y="392790"/>
            <a:ext cx="8277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5. </a:t>
            </a:r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실험 결과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E1F330-96E6-B3EA-428F-F9A21E8C174E}"/>
              </a:ext>
            </a:extLst>
          </p:cNvPr>
          <p:cNvSpPr txBox="1"/>
          <p:nvPr/>
        </p:nvSpPr>
        <p:spPr>
          <a:xfrm>
            <a:off x="422558" y="1846713"/>
            <a:ext cx="8344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종합 요약 및 분석</a:t>
            </a:r>
            <a:endParaRPr lang="en-US" altLang="ko-KR" sz="2400" b="1" dirty="0">
              <a:latin typeface="서강체" pitchFamily="50" charset="-127"/>
              <a:ea typeface="서강체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411E328-7264-4BE9-FB24-8F8880FF13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1E61BE3-75DE-875A-3E3F-94CD1D524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765875"/>
              </p:ext>
            </p:extLst>
          </p:nvPr>
        </p:nvGraphicFramePr>
        <p:xfrm>
          <a:off x="1163122" y="3374538"/>
          <a:ext cx="5694878" cy="309067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78575">
                  <a:extLst>
                    <a:ext uri="{9D8B030D-6E8A-4147-A177-3AD203B41FA5}">
                      <a16:colId xmlns:a16="http://schemas.microsoft.com/office/drawing/2014/main" val="1382825638"/>
                    </a:ext>
                  </a:extLst>
                </a:gridCol>
                <a:gridCol w="1096664">
                  <a:extLst>
                    <a:ext uri="{9D8B030D-6E8A-4147-A177-3AD203B41FA5}">
                      <a16:colId xmlns:a16="http://schemas.microsoft.com/office/drawing/2014/main" val="569561625"/>
                    </a:ext>
                  </a:extLst>
                </a:gridCol>
                <a:gridCol w="1139291">
                  <a:extLst>
                    <a:ext uri="{9D8B030D-6E8A-4147-A177-3AD203B41FA5}">
                      <a16:colId xmlns:a16="http://schemas.microsoft.com/office/drawing/2014/main" val="89376524"/>
                    </a:ext>
                  </a:extLst>
                </a:gridCol>
                <a:gridCol w="1439521">
                  <a:extLst>
                    <a:ext uri="{9D8B030D-6E8A-4147-A177-3AD203B41FA5}">
                      <a16:colId xmlns:a16="http://schemas.microsoft.com/office/drawing/2014/main" val="1429547"/>
                    </a:ext>
                  </a:extLst>
                </a:gridCol>
                <a:gridCol w="940827">
                  <a:extLst>
                    <a:ext uri="{9D8B030D-6E8A-4147-A177-3AD203B41FA5}">
                      <a16:colId xmlns:a16="http://schemas.microsoft.com/office/drawing/2014/main" val="226651747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</a:rPr>
                        <a:t>연료 조건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</a:rPr>
                        <a:t>알고리즘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</a:rPr>
                        <a:t>성공률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</a:rPr>
                        <a:t>평균 스텝(성공)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</a:rPr>
                        <a:t>수렴 에피소드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165025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Fuel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Q-Learning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100.0%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13.2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855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368959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SARSA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100.0%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13.2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1,050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1673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Generous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Q-Learning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1.1%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122.4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미수렴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56632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SARSA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1.4%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110.7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미수렴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11506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Tight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Q-Learning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0.0%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200.0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미수렴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45959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SARSA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0.0%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200.0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미수렴</a:t>
                      </a:r>
                      <a:endParaRPr lang="en-US" sz="1200" dirty="0">
                        <a:latin typeface="서강체 TTF" pitchFamily="2" charset="-127"/>
                        <a:ea typeface="서강체 TTF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5104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3F5DCD0-4E43-CE6E-4BE9-99162B4355F8}"/>
              </a:ext>
            </a:extLst>
          </p:cNvPr>
          <p:cNvSpPr txBox="1"/>
          <p:nvPr/>
        </p:nvSpPr>
        <p:spPr>
          <a:xfrm>
            <a:off x="422559" y="2472131"/>
            <a:ext cx="83449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결과 요약 테이블 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(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마지막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500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에피소드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, 5 seeds)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Q-table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기반 알고리즘의 탐색 한계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(5,000 ep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내 수렴 불가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  <a:latin typeface="서강체" pitchFamily="50" charset="-127"/>
              <a:ea typeface="서강체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1674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65F5D-9428-D436-C9DF-9C724B1B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42CA81AE-73B7-E916-295A-2BF4292AE238}"/>
              </a:ext>
            </a:extLst>
          </p:cNvPr>
          <p:cNvSpPr/>
          <p:nvPr/>
        </p:nvSpPr>
        <p:spPr>
          <a:xfrm flipV="1">
            <a:off x="422559" y="1432881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A0050F-723A-68A1-E302-FC29E1C60877}"/>
              </a:ext>
            </a:extLst>
          </p:cNvPr>
          <p:cNvSpPr txBox="1"/>
          <p:nvPr/>
        </p:nvSpPr>
        <p:spPr>
          <a:xfrm>
            <a:off x="422560" y="392790"/>
            <a:ext cx="8277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6. </a:t>
            </a:r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토의 및 결론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C23321-05F1-400F-F542-D074FAC2594D}"/>
              </a:ext>
            </a:extLst>
          </p:cNvPr>
          <p:cNvSpPr txBox="1"/>
          <p:nvPr/>
        </p:nvSpPr>
        <p:spPr>
          <a:xfrm>
            <a:off x="422558" y="1846713"/>
            <a:ext cx="8400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한계</a:t>
            </a:r>
            <a:endParaRPr lang="en-US" altLang="ko-KR" sz="2400" b="1" dirty="0">
              <a:latin typeface="서강체" pitchFamily="50" charset="-127"/>
              <a:ea typeface="서강체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BF88DA-BAE3-FA34-92E3-93B0A253E5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DC15F9-C2C2-2802-BA16-6E2CFB97677C}"/>
              </a:ext>
            </a:extLst>
          </p:cNvPr>
          <p:cNvSpPr txBox="1"/>
          <p:nvPr/>
        </p:nvSpPr>
        <p:spPr>
          <a:xfrm>
            <a:off x="422559" y="2472131"/>
            <a:ext cx="84007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Q-table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방식이므로 상태공간이 커지면 확장성이 제한된다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주유소 위치와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fuel capacity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가 수동으로 설계되어 있다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shaping reward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가 정책을 특정 방향으로 유도할 가능성이 있다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Taxi-v4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환경 자체가 작은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toy problem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이다</a:t>
            </a: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  <a:latin typeface="서강체" pitchFamily="50" charset="-127"/>
              <a:ea typeface="서강체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D84C45-1828-3EA0-EF91-959E99169479}"/>
              </a:ext>
            </a:extLst>
          </p:cNvPr>
          <p:cNvSpPr txBox="1"/>
          <p:nvPr/>
        </p:nvSpPr>
        <p:spPr>
          <a:xfrm>
            <a:off x="479714" y="3959323"/>
            <a:ext cx="8400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개선 방향</a:t>
            </a:r>
            <a:endParaRPr lang="en-US" altLang="ko-KR" sz="2400" b="1" dirty="0">
              <a:latin typeface="서강체" pitchFamily="50" charset="-127"/>
              <a:ea typeface="서강체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B905B-6F60-5C4D-C754-FD1115455456}"/>
              </a:ext>
            </a:extLst>
          </p:cNvPr>
          <p:cNvSpPr txBox="1"/>
          <p:nvPr/>
        </p:nvSpPr>
        <p:spPr>
          <a:xfrm>
            <a:off x="479715" y="4584741"/>
            <a:ext cx="84007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DQN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등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function approximation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기반 알고리즘으로 확장한다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fuel capacity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와 주유소 위치를 바꾸는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ablation study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를 수행한다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shaping reward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유무에 따른 성능 차이를 비교한다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delivery demand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가 달라지는 동적 환경으로 확장한다</a:t>
            </a: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  <a:latin typeface="서강체" pitchFamily="50" charset="-127"/>
              <a:ea typeface="서강체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875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AB176-CF77-38FC-DF35-3B2F6BF54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D39509D6-070F-57D8-A43D-2791CC23B5A8}"/>
              </a:ext>
            </a:extLst>
          </p:cNvPr>
          <p:cNvSpPr/>
          <p:nvPr/>
        </p:nvSpPr>
        <p:spPr>
          <a:xfrm flipV="1">
            <a:off x="422559" y="1432881"/>
            <a:ext cx="8400765" cy="45719"/>
          </a:xfrm>
          <a:prstGeom prst="rect">
            <a:avLst/>
          </a:prstGeom>
          <a:solidFill>
            <a:srgbClr val="AB1E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1C1C1"/>
              </a:solidFill>
              <a:latin typeface="SOGANG UNIVERSITY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0670E6-79F9-6A67-427A-42EC35FA215C}"/>
              </a:ext>
            </a:extLst>
          </p:cNvPr>
          <p:cNvSpPr txBox="1"/>
          <p:nvPr/>
        </p:nvSpPr>
        <p:spPr>
          <a:xfrm>
            <a:off x="422560" y="392790"/>
            <a:ext cx="8277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6. </a:t>
            </a:r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토의 및 결론</a:t>
            </a:r>
            <a:endParaRPr lang="en-US" altLang="ko-KR" sz="4400" dirty="0">
              <a:latin typeface="SOGANG UNIVERSITY" pitchFamily="2" charset="-127"/>
              <a:ea typeface="SOGANG UNIVERSITY" pitchFamily="2" charset="-127"/>
              <a:cs typeface="72 Black" panose="020B0A040306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D42F18-26E2-EFD3-D8A0-993E4875370B}"/>
              </a:ext>
            </a:extLst>
          </p:cNvPr>
          <p:cNvSpPr txBox="1"/>
          <p:nvPr/>
        </p:nvSpPr>
        <p:spPr>
          <a:xfrm>
            <a:off x="422558" y="1846713"/>
            <a:ext cx="8400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서강체" pitchFamily="50" charset="-127"/>
                <a:ea typeface="서강체" pitchFamily="50" charset="-127"/>
              </a:rPr>
              <a:t>결론</a:t>
            </a:r>
            <a:endParaRPr lang="en-US" altLang="ko-KR" sz="2400" b="1" dirty="0">
              <a:latin typeface="서강체" pitchFamily="50" charset="-127"/>
              <a:ea typeface="서강체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E941460-1698-2C93-9CC9-256144F13C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83" y="169895"/>
            <a:ext cx="625398" cy="2228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C3C447-E719-2B43-B55E-3CD2F645A6CE}"/>
              </a:ext>
            </a:extLst>
          </p:cNvPr>
          <p:cNvSpPr txBox="1"/>
          <p:nvPr/>
        </p:nvSpPr>
        <p:spPr>
          <a:xfrm>
            <a:off x="422559" y="2472131"/>
            <a:ext cx="840076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연료 제약이 없는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baseline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조건에서는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Q-Learning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과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SARSA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모두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100%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의 성공률을 보이며 안정적으로 수렴하였다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그러나 연료 제약을 추가한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Generous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조건에서는 성공률이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1%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내외로 급격히 감소하였고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, Tight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조건에서는 두 알고리즘 모두 성공에 도달하지 못하였다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따라서 본 실험에서는 </a:t>
            </a:r>
            <a:r>
              <a:rPr lang="ko-KR" altLang="en-US" sz="2000" dirty="0">
                <a:solidFill>
                  <a:srgbClr val="FF0000"/>
                </a:solidFill>
                <a:latin typeface="서강체" pitchFamily="50" charset="-127"/>
                <a:ea typeface="서강체" pitchFamily="50" charset="-127"/>
              </a:rPr>
              <a:t>연료 제약이 경로 효율성을 향상시킨다는 가설은 지지되지 않았다</a:t>
            </a:r>
            <a:r>
              <a:rPr lang="en-US" altLang="ko-KR" sz="2000" dirty="0">
                <a:solidFill>
                  <a:srgbClr val="FF0000"/>
                </a:solidFill>
                <a:latin typeface="서강체" pitchFamily="50" charset="-127"/>
                <a:ea typeface="서강체" pitchFamily="50" charset="-127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FF0000"/>
                </a:solidFill>
                <a:latin typeface="서강체" pitchFamily="50" charset="-127"/>
                <a:ea typeface="서강체" pitchFamily="50" charset="-127"/>
              </a:rPr>
              <a:t>다만 연료 제약이 강해질수록 성공률이 낮아지는 경향은 확인되었으므로</a:t>
            </a:r>
            <a:r>
              <a:rPr lang="en-US" altLang="ko-KR" sz="2000" dirty="0">
                <a:solidFill>
                  <a:srgbClr val="FF0000"/>
                </a:solidFill>
                <a:latin typeface="서강체" pitchFamily="50" charset="-127"/>
                <a:ea typeface="서강체" pitchFamily="50" charset="-127"/>
              </a:rPr>
              <a:t>, </a:t>
            </a:r>
            <a:r>
              <a:rPr lang="ko-KR" altLang="en-US" sz="2000" dirty="0">
                <a:solidFill>
                  <a:srgbClr val="FF0000"/>
                </a:solidFill>
                <a:latin typeface="서강체" pitchFamily="50" charset="-127"/>
                <a:ea typeface="서강체" pitchFamily="50" charset="-127"/>
              </a:rPr>
              <a:t>연료 제약과 성공률 사이의 </a:t>
            </a:r>
            <a:r>
              <a:rPr lang="en-US" altLang="ko-KR" sz="2000" dirty="0">
                <a:solidFill>
                  <a:srgbClr val="FF0000"/>
                </a:solidFill>
                <a:latin typeface="서강체" pitchFamily="50" charset="-127"/>
                <a:ea typeface="서강체" pitchFamily="50" charset="-127"/>
              </a:rPr>
              <a:t>trade-off </a:t>
            </a:r>
            <a:r>
              <a:rPr lang="ko-KR" altLang="en-US" sz="2000" dirty="0">
                <a:solidFill>
                  <a:srgbClr val="FF0000"/>
                </a:solidFill>
                <a:latin typeface="서강체" pitchFamily="50" charset="-127"/>
                <a:ea typeface="서강체" pitchFamily="50" charset="-127"/>
              </a:rPr>
              <a:t>가능성은 일부 확인되었다</a:t>
            </a:r>
            <a:r>
              <a:rPr lang="en-US" altLang="ko-KR" sz="2000" dirty="0">
                <a:solidFill>
                  <a:srgbClr val="FF0000"/>
                </a:solidFill>
                <a:latin typeface="서강체" pitchFamily="50" charset="-127"/>
                <a:ea typeface="서강체" pitchFamily="50" charset="-127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전체적으로는 현재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Q-table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기반 알고리즘과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5,000 episode 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설정만으로는 확장된 연료 제약 환경에서 충분한 수렴을 달성하기 어렵다고 결론 내릴 수 있다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서강체" pitchFamily="50" charset="-127"/>
                <a:ea typeface="서강체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4770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D9E360B-066C-7C7B-2B65-DBDE55956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7" y="13648"/>
            <a:ext cx="9144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9A877D-068A-244E-A2EB-6A324AC824DC}"/>
              </a:ext>
            </a:extLst>
          </p:cNvPr>
          <p:cNvSpPr txBox="1"/>
          <p:nvPr/>
        </p:nvSpPr>
        <p:spPr>
          <a:xfrm>
            <a:off x="2153255" y="3044279"/>
            <a:ext cx="48622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감사합니다</a:t>
            </a:r>
            <a:r>
              <a:rPr lang="en-US" altLang="ko-KR" sz="4400" dirty="0">
                <a:latin typeface="SOGANG UNIVERSITY" pitchFamily="2" charset="-127"/>
                <a:ea typeface="SOGANG UNIVERSITY" pitchFamily="2" charset="-127"/>
                <a:cs typeface="72 Black" panose="020B0A04030603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5951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3052</TotalTime>
  <Words>1396</Words>
  <Application>Microsoft Office PowerPoint</Application>
  <PresentationFormat>화면 슬라이드 쇼(4:3)</PresentationFormat>
  <Paragraphs>295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12롯데마트드림Bold</vt:lpstr>
      <vt:lpstr>SOGANG UNIVERSITY</vt:lpstr>
      <vt:lpstr>맑은 고딕</vt:lpstr>
      <vt:lpstr>서강체</vt:lpstr>
      <vt:lpstr>서강체 TTF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SOGANG</dc:creator>
  <cp:lastModifiedBy>김진희</cp:lastModifiedBy>
  <cp:revision>85</cp:revision>
  <dcterms:created xsi:type="dcterms:W3CDTF">2024-11-19T02:00:03Z</dcterms:created>
  <dcterms:modified xsi:type="dcterms:W3CDTF">2026-06-11T11:16:25Z</dcterms:modified>
</cp:coreProperties>
</file>